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641aadcb-7823-ceb9-7282-59a7a51c8284}">
          <p14:sldIdLst>
            <p14:sldId id="256"/>
          </p14:sldIdLst>
        </p14:section>
        <p14:section name="Problem" id="{aff00cf4-32b7-6e99-fd1c-6550ae45fc31}">
          <p14:sldIdLst>
            <p14:sldId id="257"/>
          </p14:sldIdLst>
        </p14:section>
        <p14:section name="Solution" id="{6054ad4e-eee1-f4c0-2368-afbae6b3ddd9}">
          <p14:sldIdLst>
            <p14:sldId id="258"/>
            <p14:sldId id="259"/>
          </p14:sldIdLst>
        </p14:section>
        <p14:section name="Impact" id="{b46a38bb-087b-7f8d-985d-598d5bbdfb2e}">
          <p14:sldIdLst>
            <p14:sldId id="260"/>
          </p14:sldIdLst>
        </p14:section>
        <p14:section name="Extension" id="{719d8e59-03b8-84cc-6122-d0cc0bf82f38}">
          <p14:sldIdLst>
            <p14:sldId id="261"/>
            <p14:sldId id="262"/>
            <p14:sldId id="263"/>
          </p14:sldIdLst>
        </p14:section>
        <p14:section name="Delivery" id="{b45375f0-1cc4-ad9f-b070-7f4ef2cf9fbd}">
          <p14:sldIdLst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</c:v>
                </c:pt>
              </c:strCache>
            </c:strRef>
          </c:tx>
          <c:spPr>
            <a:solidFill>
              <a:srgbClr val="58E6A4"/>
            </a:solidFill>
            <a:ln w="38100" cap="flat">
              <a:solidFill>
                <a:srgbClr val="58E6A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58E6A4"/>
              </a:solidFill>
              <a:ln w="9525" cap="flat">
                <a:solidFill>
                  <a:srgbClr val="58E6A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00</c:v>
                  </c:pt>
                  <c:pt idx="1">
                    <c:v>03</c:v>
                  </c:pt>
                  <c:pt idx="2">
                    <c:v>06</c:v>
                  </c:pt>
                  <c:pt idx="3">
                    <c:v>09</c:v>
                  </c:pt>
                  <c:pt idx="4">
                    <c:v>12</c:v>
                  </c:pt>
                  <c:pt idx="5">
                    <c:v>15</c:v>
                  </c:pt>
                  <c:pt idx="6">
                    <c:v>18</c:v>
                  </c:pt>
                  <c:pt idx="7">
                    <c:v>21</c:v>
                  </c:pt>
                  <c:pt idx="8">
                    <c:v>24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30</c:v>
                </c:pt>
                <c:pt idx="1">
                  <c:v>22</c:v>
                </c:pt>
                <c:pt idx="2">
                  <c:v>35</c:v>
                </c:pt>
                <c:pt idx="3">
                  <c:v>45</c:v>
                </c:pt>
                <c:pt idx="4">
                  <c:v>50</c:v>
                </c:pt>
                <c:pt idx="5">
                  <c:v>62</c:v>
                </c:pt>
                <c:pt idx="6">
                  <c:v>95</c:v>
                </c:pt>
                <c:pt idx="7">
                  <c:v>70</c:v>
                </c:pt>
                <c:pt idx="8">
                  <c:v>40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A6B8C7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A6B8C7"/>
                    </a:solidFill>
                    <a:latin typeface="+mn-lt"/>
                  </a:rPr>
                  <a:t>Hour of day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6B8C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majorGridlines>
          <c:spPr>
            <a:ln w="9525" cap="flat">
              <a:solidFill>
                <a:srgbClr val="2B3F5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6B8C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FFB55C"/>
            </a:solidFill>
            <a:ln w="38100" cap="flat">
              <a:solidFill>
                <a:srgbClr val="FFB5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FB55C"/>
              </a:solidFill>
              <a:ln w="9525" cap="flat">
                <a:solidFill>
                  <a:srgbClr val="FFB5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00</c:v>
                  </c:pt>
                  <c:pt idx="1">
                    <c:v>03</c:v>
                  </c:pt>
                  <c:pt idx="2">
                    <c:v>06</c:v>
                  </c:pt>
                  <c:pt idx="3">
                    <c:v>09</c:v>
                  </c:pt>
                  <c:pt idx="4">
                    <c:v>12</c:v>
                  </c:pt>
                  <c:pt idx="5">
                    <c:v>15</c:v>
                  </c:pt>
                  <c:pt idx="6">
                    <c:v>18</c:v>
                  </c:pt>
                  <c:pt idx="7">
                    <c:v>21</c:v>
                  </c:pt>
                  <c:pt idx="8">
                    <c:v>24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32</c:v>
                </c:pt>
                <c:pt idx="1">
                  <c:v>25</c:v>
                </c:pt>
                <c:pt idx="2">
                  <c:v>38</c:v>
                </c:pt>
                <c:pt idx="3">
                  <c:v>52</c:v>
                </c:pt>
                <c:pt idx="4">
                  <c:v>58</c:v>
                </c:pt>
                <c:pt idx="5">
                  <c:v>74</c:v>
                </c:pt>
                <c:pt idx="6">
                  <c:v>96</c:v>
                </c:pt>
                <c:pt idx="7">
                  <c:v>78</c:v>
                </c:pt>
                <c:pt idx="8">
                  <c:v>45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Optimized</c:v>
                </c:pt>
              </c:strCache>
            </c:strRef>
          </c:tx>
          <c:spPr>
            <a:solidFill>
              <a:srgbClr val="58E6A4"/>
            </a:solidFill>
            <a:ln w="38100" cap="flat">
              <a:solidFill>
                <a:srgbClr val="58E6A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58E6A4"/>
              </a:solidFill>
              <a:ln w="9525" cap="flat">
                <a:solidFill>
                  <a:srgbClr val="58E6A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00</c:v>
                  </c:pt>
                  <c:pt idx="1">
                    <c:v>03</c:v>
                  </c:pt>
                  <c:pt idx="2">
                    <c:v>06</c:v>
                  </c:pt>
                  <c:pt idx="3">
                    <c:v>09</c:v>
                  </c:pt>
                  <c:pt idx="4">
                    <c:v>12</c:v>
                  </c:pt>
                  <c:pt idx="5">
                    <c:v>15</c:v>
                  </c:pt>
                  <c:pt idx="6">
                    <c:v>18</c:v>
                  </c:pt>
                  <c:pt idx="7">
                    <c:v>21</c:v>
                  </c:pt>
                  <c:pt idx="8">
                    <c:v>24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40</c:v>
                </c:pt>
                <c:pt idx="1">
                  <c:v>38</c:v>
                </c:pt>
                <c:pt idx="2">
                  <c:v>46</c:v>
                </c:pt>
                <c:pt idx="3">
                  <c:v>56</c:v>
                </c:pt>
                <c:pt idx="4">
                  <c:v>62</c:v>
                </c:pt>
                <c:pt idx="5">
                  <c:v>67</c:v>
                </c:pt>
                <c:pt idx="6">
                  <c:v>70</c:v>
                </c:pt>
                <c:pt idx="7">
                  <c:v>64</c:v>
                </c:pt>
                <c:pt idx="8">
                  <c:v>52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A6B8C7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A6B8C7"/>
                    </a:solidFill>
                    <a:latin typeface="+mn-lt"/>
                  </a:rPr>
                  <a:t>Hour of day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6B8C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majorGridlines>
          <c:spPr>
            <a:ln w="9525" cap="flat">
              <a:solidFill>
                <a:srgbClr val="2B3F5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6B8C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A6B8C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FFB55C"/>
            </a:solidFill>
            <a:ln w="38100" cap="flat">
              <a:solidFill>
                <a:srgbClr val="FFB5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FB55C"/>
              </a:solidFill>
              <a:ln w="9525" cap="flat">
                <a:solidFill>
                  <a:srgbClr val="FFB5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00</c:v>
                  </c:pt>
                  <c:pt idx="1">
                    <c:v>03</c:v>
                  </c:pt>
                  <c:pt idx="2">
                    <c:v>06</c:v>
                  </c:pt>
                  <c:pt idx="3">
                    <c:v>09</c:v>
                  </c:pt>
                  <c:pt idx="4">
                    <c:v>12</c:v>
                  </c:pt>
                  <c:pt idx="5">
                    <c:v>15</c:v>
                  </c:pt>
                  <c:pt idx="6">
                    <c:v>18</c:v>
                  </c:pt>
                  <c:pt idx="7">
                    <c:v>21</c:v>
                  </c:pt>
                  <c:pt idx="8">
                    <c:v>24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32</c:v>
                </c:pt>
                <c:pt idx="1">
                  <c:v>25</c:v>
                </c:pt>
                <c:pt idx="2">
                  <c:v>38</c:v>
                </c:pt>
                <c:pt idx="3">
                  <c:v>52</c:v>
                </c:pt>
                <c:pt idx="4">
                  <c:v>58</c:v>
                </c:pt>
                <c:pt idx="5">
                  <c:v>74</c:v>
                </c:pt>
                <c:pt idx="6">
                  <c:v>96</c:v>
                </c:pt>
                <c:pt idx="7">
                  <c:v>78</c:v>
                </c:pt>
                <c:pt idx="8">
                  <c:v>45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Optimized</c:v>
                </c:pt>
              </c:strCache>
            </c:strRef>
          </c:tx>
          <c:spPr>
            <a:solidFill>
              <a:srgbClr val="58E6A4"/>
            </a:solidFill>
            <a:ln w="38100" cap="flat">
              <a:solidFill>
                <a:srgbClr val="58E6A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58E6A4"/>
              </a:solidFill>
              <a:ln w="9525" cap="flat">
                <a:solidFill>
                  <a:srgbClr val="58E6A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00</c:v>
                  </c:pt>
                  <c:pt idx="1">
                    <c:v>03</c:v>
                  </c:pt>
                  <c:pt idx="2">
                    <c:v>06</c:v>
                  </c:pt>
                  <c:pt idx="3">
                    <c:v>09</c:v>
                  </c:pt>
                  <c:pt idx="4">
                    <c:v>12</c:v>
                  </c:pt>
                  <c:pt idx="5">
                    <c:v>15</c:v>
                  </c:pt>
                  <c:pt idx="6">
                    <c:v>18</c:v>
                  </c:pt>
                  <c:pt idx="7">
                    <c:v>21</c:v>
                  </c:pt>
                  <c:pt idx="8">
                    <c:v>24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40</c:v>
                </c:pt>
                <c:pt idx="1">
                  <c:v>38</c:v>
                </c:pt>
                <c:pt idx="2">
                  <c:v>46</c:v>
                </c:pt>
                <c:pt idx="3">
                  <c:v>56</c:v>
                </c:pt>
                <c:pt idx="4">
                  <c:v>62</c:v>
                </c:pt>
                <c:pt idx="5">
                  <c:v>67</c:v>
                </c:pt>
                <c:pt idx="6">
                  <c:v>70</c:v>
                </c:pt>
                <c:pt idx="7">
                  <c:v>64</c:v>
                </c:pt>
                <c:pt idx="8">
                  <c:v>52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6B8C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majorGridlines>
          <c:spPr>
            <a:ln w="9525" cap="flat">
              <a:solidFill>
                <a:srgbClr val="2B3F5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6B8C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A6B8C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V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74520"/>
            <a:ext cx="60350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8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V_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85800"/>
            <a:ext cx="9509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pic>
        <p:nvPicPr>
          <p:cNvPr id="3" name="Image 0" descr="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384048"/>
            <a:ext cx="1280160" cy="5760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EVkal  •  SGU_HACKX 1.0  •  Smart EV Charging Ecosystem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pill"/>
          <p:cNvSpPr/>
          <p:nvPr/>
        </p:nvSpPr>
        <p:spPr>
          <a:xfrm>
            <a:off x="731520" y="731520"/>
            <a:ext cx="210312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1"/>
          <p:cNvSpPr txBox="1"/>
          <p:nvPr/>
        </p:nvSpPr>
        <p:spPr>
          <a:xfrm>
            <a:off x="731520" y="7315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SGU_HACKX 1.0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187452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EV</a:t>
            </a:r>
            <a:pPr algn="l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kal</a:t>
            </a:r>
            <a:endParaRPr lang="en-US" sz="8000" dirty="0"/>
          </a:p>
        </p:txBody>
      </p:sp>
      <p:sp>
        <p:nvSpPr>
          <p:cNvPr id="5" name="text2"/>
          <p:cNvSpPr txBox="1"/>
          <p:nvPr/>
        </p:nvSpPr>
        <p:spPr>
          <a:xfrm>
            <a:off x="731520" y="32461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chemeClr val="accent1"/>
                </a:solidFill>
              </a:rPr>
              <a:t>SMART EV CHARGING ECOSYSTEM</a:t>
            </a:r>
            <a:endParaRPr lang="en-US" sz="2000" dirty="0"/>
          </a:p>
        </p:txBody>
      </p:sp>
      <p:sp>
        <p:nvSpPr>
          <p:cNvPr id="6" name="text3"/>
          <p:cNvSpPr txBox="1"/>
          <p:nvPr/>
        </p:nvSpPr>
        <p:spPr>
          <a:xfrm>
            <a:off x="731520" y="37490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Smarter Charging. Balanced Grids.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Connected Communities.</a:t>
            </a:r>
            <a:endParaRPr lang="en-US" sz="2400" dirty="0"/>
          </a:p>
        </p:txBody>
      </p:sp>
      <p:sp>
        <p:nvSpPr>
          <p:cNvPr id="7" name="text4"/>
          <p:cNvSpPr txBox="1"/>
          <p:nvPr/>
        </p:nvSpPr>
        <p:spPr>
          <a:xfrm>
            <a:off x="731520" y="47548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 demand-aware charging platform that balances simulated local load and connects EV drivers with compatible nearby chargers.</a:t>
            </a:r>
            <a:endParaRPr lang="en-US" sz="1600" dirty="0"/>
          </a:p>
        </p:txBody>
      </p:sp>
      <p:sp>
        <p:nvSpPr>
          <p:cNvPr id="8" name="badge5"/>
          <p:cNvSpPr/>
          <p:nvPr/>
        </p:nvSpPr>
        <p:spPr>
          <a:xfrm>
            <a:off x="731520" y="5669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6"/>
          <p:cNvSpPr txBox="1"/>
          <p:nvPr/>
        </p:nvSpPr>
        <p:spPr>
          <a:xfrm>
            <a:off x="731520" y="5669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01</a:t>
            </a:r>
            <a:endParaRPr lang="en-US" sz="1400" dirty="0"/>
          </a:p>
        </p:txBody>
      </p:sp>
      <p:sp>
        <p:nvSpPr>
          <p:cNvPr id="10" name="text7"/>
          <p:cNvSpPr txBox="1"/>
          <p:nvPr/>
        </p:nvSpPr>
        <p:spPr>
          <a:xfrm>
            <a:off x="1225296" y="56692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SMART CHARGING</a:t>
            </a:r>
            <a:endParaRPr lang="en-US" sz="1400" dirty="0"/>
          </a:p>
        </p:txBody>
      </p:sp>
      <p:sp>
        <p:nvSpPr>
          <p:cNvPr id="11" name="badge8"/>
          <p:cNvSpPr/>
          <p:nvPr/>
        </p:nvSpPr>
        <p:spPr>
          <a:xfrm>
            <a:off x="3794760" y="56692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9"/>
          <p:cNvSpPr txBox="1"/>
          <p:nvPr/>
        </p:nvSpPr>
        <p:spPr>
          <a:xfrm>
            <a:off x="3794760" y="5669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10"/>
          <p:cNvSpPr txBox="1"/>
          <p:nvPr/>
        </p:nvSpPr>
        <p:spPr>
          <a:xfrm>
            <a:off x="4288536" y="56692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CHARGER SHARING</a:t>
            </a:r>
            <a:endParaRPr lang="en-US" sz="1400" dirty="0"/>
          </a:p>
        </p:txBody>
      </p:sp>
      <p:pic>
        <p:nvPicPr>
          <p:cNvPr id="14" name="EVkal logo" descr="logo_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777240"/>
            <a:ext cx="4754880" cy="4754880"/>
          </a:xfrm>
          <a:prstGeom prst="rect">
            <a:avLst/>
          </a:prstGeom>
        </p:spPr>
      </p:pic>
      <p:sp>
        <p:nvSpPr>
          <p:cNvPr id="15" name="text11"/>
          <p:cNvSpPr txBox="1"/>
          <p:nvPr/>
        </p:nvSpPr>
        <p:spPr>
          <a:xfrm>
            <a:off x="7223760" y="5806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Locality demo: Uttar Pradesh (simulated)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8580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Two connected problems. One opportunity.</a:t>
            </a:r>
            <a:endParaRPr lang="en-US" sz="3400" dirty="0"/>
          </a:p>
        </p:txBody>
      </p:sp>
      <p:sp>
        <p:nvSpPr>
          <p:cNvPr id="3" name="text1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01  •  THE CHALLENGE</a:t>
            </a:r>
            <a:endParaRPr lang="en-US" sz="1200" dirty="0"/>
          </a:p>
        </p:txBody>
      </p:sp>
      <p:sp>
        <p:nvSpPr>
          <p:cNvPr id="4" name="text13"/>
          <p:cNvSpPr txBox="1"/>
          <p:nvPr/>
        </p:nvSpPr>
        <p:spPr>
          <a:xfrm>
            <a:off x="54864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EV adoption needs grid-aware charging and more flexible access to charging points.</a:t>
            </a:r>
            <a:endParaRPr lang="en-US" sz="1600" dirty="0"/>
          </a:p>
        </p:txBody>
      </p:sp>
      <p:sp>
        <p:nvSpPr>
          <p:cNvPr id="5" name="card14"/>
          <p:cNvSpPr/>
          <p:nvPr/>
        </p:nvSpPr>
        <p:spPr>
          <a:xfrm>
            <a:off x="548640" y="1874520"/>
            <a:ext cx="4937760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badge15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con1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217420"/>
            <a:ext cx="228600" cy="228600"/>
          </a:xfrm>
          <a:prstGeom prst="rect">
            <a:avLst/>
          </a:prstGeom>
        </p:spPr>
      </p:pic>
      <p:sp>
        <p:nvSpPr>
          <p:cNvPr id="8" name="text17"/>
          <p:cNvSpPr txBox="1"/>
          <p:nvPr/>
        </p:nvSpPr>
        <p:spPr>
          <a:xfrm>
            <a:off x="1325880" y="2103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Evening demand peaks</a:t>
            </a:r>
            <a:endParaRPr lang="en-US" sz="1800" dirty="0"/>
          </a:p>
        </p:txBody>
      </p:sp>
      <p:sp>
        <p:nvSpPr>
          <p:cNvPr id="9" name="text18"/>
          <p:cNvSpPr txBox="1"/>
          <p:nvPr/>
        </p:nvSpPr>
        <p:spPr>
          <a:xfrm>
            <a:off x="777240" y="26517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When many EVs charge at once, combined load can exceed a local transformer’s configured capacity.</a:t>
            </a:r>
            <a:endParaRPr lang="en-US" sz="1400" dirty="0"/>
          </a:p>
        </p:txBody>
      </p:sp>
      <p:sp>
        <p:nvSpPr>
          <p:cNvPr id="10" name="card19"/>
          <p:cNvSpPr/>
          <p:nvPr/>
        </p:nvSpPr>
        <p:spPr>
          <a:xfrm>
            <a:off x="548640" y="3703320"/>
            <a:ext cx="4937760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badge20"/>
          <p:cNvSpPr/>
          <p:nvPr/>
        </p:nvSpPr>
        <p:spPr>
          <a:xfrm>
            <a:off x="777240" y="39319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2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4046220"/>
            <a:ext cx="228600" cy="228600"/>
          </a:xfrm>
          <a:prstGeom prst="rect">
            <a:avLst/>
          </a:prstGeom>
        </p:spPr>
      </p:pic>
      <p:sp>
        <p:nvSpPr>
          <p:cNvPr id="13" name="text22"/>
          <p:cNvSpPr txBox="1"/>
          <p:nvPr/>
        </p:nvSpPr>
        <p:spPr>
          <a:xfrm>
            <a:off x="1325880" y="3931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Charging access gaps</a:t>
            </a:r>
            <a:endParaRPr lang="en-US" sz="1800" dirty="0"/>
          </a:p>
        </p:txBody>
      </p:sp>
      <p:sp>
        <p:nvSpPr>
          <p:cNvPr id="14" name="text23"/>
          <p:cNvSpPr txBox="1"/>
          <p:nvPr/>
        </p:nvSpPr>
        <p:spPr>
          <a:xfrm>
            <a:off x="777240" y="44805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Drivers may not find a compatible charger in reach, while private chargers sit unused for much of the day.</a:t>
            </a:r>
            <a:endParaRPr lang="en-US" sz="1400" dirty="0"/>
          </a:p>
        </p:txBody>
      </p:sp>
      <p:sp>
        <p:nvSpPr>
          <p:cNvPr id="15" name="card24"/>
          <p:cNvSpPr/>
          <p:nvPr/>
        </p:nvSpPr>
        <p:spPr>
          <a:xfrm>
            <a:off x="5715000" y="1874520"/>
            <a:ext cx="5897880" cy="352044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text25"/>
          <p:cNvSpPr txBox="1"/>
          <p:nvPr/>
        </p:nvSpPr>
        <p:spPr>
          <a:xfrm>
            <a:off x="5943600" y="2011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Illustrative local demand profile</a:t>
            </a:r>
            <a:endParaRPr lang="en-US" sz="1600" dirty="0"/>
          </a:p>
        </p:txBody>
      </p:sp>
      <p:sp>
        <p:nvSpPr>
          <p:cNvPr id="17" name="text26"/>
          <p:cNvSpPr txBox="1"/>
          <p:nvPr/>
        </p:nvSpPr>
        <p:spPr>
          <a:xfrm>
            <a:off x="5943600" y="2331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Relative load across the day  •  not measured data</a:t>
            </a:r>
            <a:endParaRPr lang="en-US" sz="1200" dirty="0"/>
          </a:p>
        </p:txBody>
      </p:sp>
      <p:sp>
        <p:nvSpPr>
          <p:cNvPr id="18" name="Peak pill"/>
          <p:cNvSpPr/>
          <p:nvPr/>
        </p:nvSpPr>
        <p:spPr>
          <a:xfrm>
            <a:off x="9966960" y="2011680"/>
            <a:ext cx="141732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27"/>
          <p:cNvSpPr txBox="1"/>
          <p:nvPr/>
        </p:nvSpPr>
        <p:spPr>
          <a:xfrm>
            <a:off x="9966960" y="201168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EVENING PEAK</a:t>
            </a:r>
            <a:endParaRPr lang="en-US" sz="12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5852160" y="2651760"/>
          <a:ext cx="56692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1" name="card28"/>
          <p:cNvSpPr/>
          <p:nvPr/>
        </p:nvSpPr>
        <p:spPr>
          <a:xfrm>
            <a:off x="548640" y="5577840"/>
            <a:ext cx="11064240" cy="640080"/>
          </a:xfrm>
          <a:prstGeom prst="roundRect">
            <a:avLst>
              <a:gd name="adj" fmla="val 17143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2" name="text29"/>
          <p:cNvSpPr txBox="1"/>
          <p:nvPr/>
        </p:nvSpPr>
        <p:spPr>
          <a:xfrm>
            <a:off x="777240" y="55778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Who feels it: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EV drivers (charging uncertainty)   •   Charger owners (underused assets)   •   Grid operators (load pressure)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8580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One platform. Two connected modules.</a:t>
            </a:r>
            <a:endParaRPr lang="en-US" sz="3400" dirty="0"/>
          </a:p>
        </p:txBody>
      </p:sp>
      <p:sp>
        <p:nvSpPr>
          <p:cNvPr id="3" name="text3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02  •  THE EVKAL APPROACH</a:t>
            </a:r>
            <a:endParaRPr lang="en-US" sz="1200" dirty="0"/>
          </a:p>
        </p:txBody>
      </p:sp>
      <p:sp>
        <p:nvSpPr>
          <p:cNvPr id="4" name="text31"/>
          <p:cNvSpPr txBox="1"/>
          <p:nvPr/>
        </p:nvSpPr>
        <p:spPr>
          <a:xfrm>
            <a:off x="54864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Start with the core scheduling workflow, then extend to neighborhood charger sharing.</a:t>
            </a:r>
            <a:endParaRPr lang="en-US" sz="1600" dirty="0"/>
          </a:p>
        </p:txBody>
      </p:sp>
      <p:sp>
        <p:nvSpPr>
          <p:cNvPr id="5" name="card32"/>
          <p:cNvSpPr/>
          <p:nvPr/>
        </p:nvSpPr>
        <p:spPr>
          <a:xfrm>
            <a:off x="548640" y="1874520"/>
            <a:ext cx="5440680" cy="2926080"/>
          </a:xfrm>
          <a:prstGeom prst="roundRect">
            <a:avLst>
              <a:gd name="adj" fmla="val 3750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badge33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3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217420"/>
            <a:ext cx="228600" cy="228600"/>
          </a:xfrm>
          <a:prstGeom prst="rect">
            <a:avLst/>
          </a:prstGeom>
        </p:spPr>
      </p:pic>
      <p:sp>
        <p:nvSpPr>
          <p:cNvPr id="8" name="text35"/>
          <p:cNvSpPr txBox="1"/>
          <p:nvPr/>
        </p:nvSpPr>
        <p:spPr>
          <a:xfrm>
            <a:off x="1371600" y="21031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MODULE A  •  SMART CHARGING</a:t>
            </a:r>
            <a:endParaRPr lang="en-US" sz="1600" dirty="0"/>
          </a:p>
        </p:txBody>
      </p:sp>
      <p:sp>
        <p:nvSpPr>
          <p:cNvPr id="9" name="text36"/>
          <p:cNvSpPr txBox="1"/>
          <p:nvPr/>
        </p:nvSpPr>
        <p:spPr>
          <a:xfrm>
            <a:off x="822960" y="274320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Classify demand by time slot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Schedule feasible charging in lower-load periods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Compare baseline and optimized peak load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Estimate illustrative cost or incentives</a:t>
            </a:r>
            <a:endParaRPr lang="en-US" sz="1600" dirty="0"/>
          </a:p>
        </p:txBody>
      </p:sp>
      <p:sp>
        <p:nvSpPr>
          <p:cNvPr id="10" name="card37"/>
          <p:cNvSpPr/>
          <p:nvPr/>
        </p:nvSpPr>
        <p:spPr>
          <a:xfrm>
            <a:off x="6172200" y="1874520"/>
            <a:ext cx="5440680" cy="2926080"/>
          </a:xfrm>
          <a:prstGeom prst="roundRect">
            <a:avLst>
              <a:gd name="adj" fmla="val 3750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badge38"/>
          <p:cNvSpPr/>
          <p:nvPr/>
        </p:nvSpPr>
        <p:spPr>
          <a:xfrm>
            <a:off x="6446520" y="21031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on3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820" y="2217420"/>
            <a:ext cx="228600" cy="228600"/>
          </a:xfrm>
          <a:prstGeom prst="rect">
            <a:avLst/>
          </a:prstGeom>
        </p:spPr>
      </p:pic>
      <p:sp>
        <p:nvSpPr>
          <p:cNvPr id="13" name="text40"/>
          <p:cNvSpPr txBox="1"/>
          <p:nvPr/>
        </p:nvSpPr>
        <p:spPr>
          <a:xfrm>
            <a:off x="6995160" y="21031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MODULE B  •  CHARGER SHARING</a:t>
            </a:r>
            <a:endParaRPr lang="en-US" sz="1600" dirty="0"/>
          </a:p>
        </p:txBody>
      </p:sp>
      <p:sp>
        <p:nvSpPr>
          <p:cNvPr id="14" name="text41"/>
          <p:cNvSpPr txBox="1"/>
          <p:nvPr/>
        </p:nvSpPr>
        <p:spPr>
          <a:xfrm>
            <a:off x="6446520" y="274320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List opted-in private chargers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Find nearby compatible options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Review availability, power and host price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Submit a simulated access request</a:t>
            </a:r>
            <a:endParaRPr lang="en-US" sz="1600" dirty="0"/>
          </a:p>
        </p:txBody>
      </p:sp>
      <p:sp>
        <p:nvSpPr>
          <p:cNvPr id="15" name="card42"/>
          <p:cNvSpPr/>
          <p:nvPr/>
        </p:nvSpPr>
        <p:spPr>
          <a:xfrm>
            <a:off x="548640" y="4983480"/>
            <a:ext cx="3566160" cy="960120"/>
          </a:xfrm>
          <a:prstGeom prst="roundRect">
            <a:avLst>
              <a:gd name="adj" fmla="val 11429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text43"/>
          <p:cNvSpPr txBox="1"/>
          <p:nvPr/>
        </p:nvSpPr>
        <p:spPr>
          <a:xfrm>
            <a:off x="777240" y="5074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BALANCE</a:t>
            </a:r>
            <a:endParaRPr lang="en-US" sz="1400" dirty="0"/>
          </a:p>
        </p:txBody>
      </p:sp>
      <p:sp>
        <p:nvSpPr>
          <p:cNvPr id="17" name="text44"/>
          <p:cNvSpPr txBox="1"/>
          <p:nvPr/>
        </p:nvSpPr>
        <p:spPr>
          <a:xfrm>
            <a:off x="777240" y="5413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Reduce simulated peaks</a:t>
            </a:r>
            <a:endParaRPr lang="en-US" sz="1600" dirty="0"/>
          </a:p>
        </p:txBody>
      </p:sp>
      <p:sp>
        <p:nvSpPr>
          <p:cNvPr id="18" name="card45"/>
          <p:cNvSpPr/>
          <p:nvPr/>
        </p:nvSpPr>
        <p:spPr>
          <a:xfrm>
            <a:off x="4297680" y="4983480"/>
            <a:ext cx="3566160" cy="960120"/>
          </a:xfrm>
          <a:prstGeom prst="roundRect">
            <a:avLst>
              <a:gd name="adj" fmla="val 11429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text46"/>
          <p:cNvSpPr txBox="1"/>
          <p:nvPr/>
        </p:nvSpPr>
        <p:spPr>
          <a:xfrm>
            <a:off x="4526280" y="5074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4"/>
                </a:solidFill>
              </a:rPr>
              <a:t>CLARITY</a:t>
            </a:r>
            <a:endParaRPr lang="en-US" sz="1400" dirty="0"/>
          </a:p>
        </p:txBody>
      </p:sp>
      <p:sp>
        <p:nvSpPr>
          <p:cNvPr id="20" name="text47"/>
          <p:cNvSpPr txBox="1"/>
          <p:nvPr/>
        </p:nvSpPr>
        <p:spPr>
          <a:xfrm>
            <a:off x="4526280" y="5413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Explain cost and decisions</a:t>
            </a:r>
            <a:endParaRPr lang="en-US" sz="1600" dirty="0"/>
          </a:p>
        </p:txBody>
      </p:sp>
      <p:sp>
        <p:nvSpPr>
          <p:cNvPr id="21" name="card48"/>
          <p:cNvSpPr/>
          <p:nvPr/>
        </p:nvSpPr>
        <p:spPr>
          <a:xfrm>
            <a:off x="8046720" y="4983480"/>
            <a:ext cx="3566160" cy="960120"/>
          </a:xfrm>
          <a:prstGeom prst="roundRect">
            <a:avLst>
              <a:gd name="adj" fmla="val 11429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2" name="text49"/>
          <p:cNvSpPr txBox="1"/>
          <p:nvPr/>
        </p:nvSpPr>
        <p:spPr>
          <a:xfrm>
            <a:off x="8275320" y="5074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ACCESS</a:t>
            </a:r>
            <a:endParaRPr lang="en-US" sz="1400" dirty="0"/>
          </a:p>
        </p:txBody>
      </p:sp>
      <p:sp>
        <p:nvSpPr>
          <p:cNvPr id="23" name="text50"/>
          <p:cNvSpPr txBox="1"/>
          <p:nvPr/>
        </p:nvSpPr>
        <p:spPr>
          <a:xfrm>
            <a:off x="8275320" y="5413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Connect compatible users</a:t>
            </a:r>
            <a:endParaRPr lang="en-US" sz="1600" dirty="0"/>
          </a:p>
        </p:txBody>
      </p:sp>
      <p:sp>
        <p:nvSpPr>
          <p:cNvPr id="24" name="text51"/>
          <p:cNvSpPr txBox="1"/>
          <p:nvPr/>
        </p:nvSpPr>
        <p:spPr>
          <a:xfrm>
            <a:off x="548640" y="60167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Delivery rule: P0 smart charging is mandatory; P1 sharing follows once the core workflow is stable.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8580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Smart charging: demand to schedule</a:t>
            </a:r>
            <a:endParaRPr lang="en-US" sz="3400" dirty="0"/>
          </a:p>
        </p:txBody>
      </p:sp>
      <p:sp>
        <p:nvSpPr>
          <p:cNvPr id="3" name="text5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03  •  CORE TECHNOLOGY</a:t>
            </a:r>
            <a:endParaRPr lang="en-US" sz="1200" dirty="0"/>
          </a:p>
        </p:txBody>
      </p:sp>
      <p:sp>
        <p:nvSpPr>
          <p:cNvPr id="4" name="text53"/>
          <p:cNvSpPr txBox="1"/>
          <p:nvPr/>
        </p:nvSpPr>
        <p:spPr>
          <a:xfrm>
            <a:off x="54864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The scheduler must meet energy and deadline constraints, not just shift every session to one hour.</a:t>
            </a:r>
            <a:endParaRPr lang="en-US" sz="1600" dirty="0"/>
          </a:p>
        </p:txBody>
      </p:sp>
      <p:sp>
        <p:nvSpPr>
          <p:cNvPr id="5" name="card54"/>
          <p:cNvSpPr/>
          <p:nvPr/>
        </p:nvSpPr>
        <p:spPr>
          <a:xfrm>
            <a:off x="548640" y="1874520"/>
            <a:ext cx="2011680" cy="251460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badge55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5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2171700"/>
            <a:ext cx="228600" cy="228600"/>
          </a:xfrm>
          <a:prstGeom prst="rect">
            <a:avLst/>
          </a:prstGeom>
        </p:spPr>
      </p:pic>
      <p:sp>
        <p:nvSpPr>
          <p:cNvPr id="8" name="text57"/>
          <p:cNvSpPr txBox="1"/>
          <p:nvPr/>
        </p:nvSpPr>
        <p:spPr>
          <a:xfrm>
            <a:off x="731520" y="2606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Inputs</a:t>
            </a:r>
            <a:endParaRPr lang="en-US" sz="1600" dirty="0"/>
          </a:p>
        </p:txBody>
      </p:sp>
      <p:sp>
        <p:nvSpPr>
          <p:cNvPr id="9" name="text58"/>
          <p:cNvSpPr txBox="1"/>
          <p:nvPr/>
        </p:nvSpPr>
        <p:spPr>
          <a:xfrm>
            <a:off x="731520" y="301752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Energy needed, power, earliest start, deadline</a:t>
            </a:r>
            <a:endParaRPr lang="en-US" sz="1400" dirty="0"/>
          </a:p>
        </p:txBody>
      </p:sp>
      <p:sp>
        <p:nvSpPr>
          <p:cNvPr id="10" name="arrow59"/>
          <p:cNvSpPr/>
          <p:nvPr/>
        </p:nvSpPr>
        <p:spPr>
          <a:xfrm>
            <a:off x="2615184" y="2926080"/>
            <a:ext cx="146304" cy="27432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card60"/>
          <p:cNvSpPr/>
          <p:nvPr/>
        </p:nvSpPr>
        <p:spPr>
          <a:xfrm>
            <a:off x="2811780" y="1874520"/>
            <a:ext cx="2011680" cy="251460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badge61"/>
          <p:cNvSpPr/>
          <p:nvPr/>
        </p:nvSpPr>
        <p:spPr>
          <a:xfrm>
            <a:off x="2994660" y="2057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con6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2171700"/>
            <a:ext cx="228600" cy="228600"/>
          </a:xfrm>
          <a:prstGeom prst="rect">
            <a:avLst/>
          </a:prstGeom>
        </p:spPr>
      </p:pic>
      <p:sp>
        <p:nvSpPr>
          <p:cNvPr id="14" name="text63"/>
          <p:cNvSpPr txBox="1"/>
          <p:nvPr/>
        </p:nvSpPr>
        <p:spPr>
          <a:xfrm>
            <a:off x="2994660" y="2606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Load model</a:t>
            </a:r>
            <a:endParaRPr lang="en-US" sz="1600" dirty="0"/>
          </a:p>
        </p:txBody>
      </p:sp>
      <p:sp>
        <p:nvSpPr>
          <p:cNvPr id="15" name="text64"/>
          <p:cNvSpPr txBox="1"/>
          <p:nvPr/>
        </p:nvSpPr>
        <p:spPr>
          <a:xfrm>
            <a:off x="2994660" y="301752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Background load plus EV charging per time slot</a:t>
            </a:r>
            <a:endParaRPr lang="en-US" sz="1400" dirty="0"/>
          </a:p>
        </p:txBody>
      </p:sp>
      <p:sp>
        <p:nvSpPr>
          <p:cNvPr id="16" name="arrow65"/>
          <p:cNvSpPr/>
          <p:nvPr/>
        </p:nvSpPr>
        <p:spPr>
          <a:xfrm>
            <a:off x="4878324" y="2926080"/>
            <a:ext cx="146304" cy="27432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card66"/>
          <p:cNvSpPr/>
          <p:nvPr/>
        </p:nvSpPr>
        <p:spPr>
          <a:xfrm>
            <a:off x="5074920" y="1874520"/>
            <a:ext cx="2011680" cy="251460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8" name="badge67"/>
          <p:cNvSpPr/>
          <p:nvPr/>
        </p:nvSpPr>
        <p:spPr>
          <a:xfrm>
            <a:off x="5257800" y="2057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6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100" y="2171700"/>
            <a:ext cx="228600" cy="228600"/>
          </a:xfrm>
          <a:prstGeom prst="rect">
            <a:avLst/>
          </a:prstGeom>
        </p:spPr>
      </p:pic>
      <p:sp>
        <p:nvSpPr>
          <p:cNvPr id="20" name="text69"/>
          <p:cNvSpPr txBox="1"/>
          <p:nvPr/>
        </p:nvSpPr>
        <p:spPr>
          <a:xfrm>
            <a:off x="5257800" y="2606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Classify</a:t>
            </a:r>
            <a:endParaRPr lang="en-US" sz="1600" dirty="0"/>
          </a:p>
        </p:txBody>
      </p:sp>
      <p:sp>
        <p:nvSpPr>
          <p:cNvPr id="21" name="text70"/>
          <p:cNvSpPr txBox="1"/>
          <p:nvPr/>
        </p:nvSpPr>
        <p:spPr>
          <a:xfrm>
            <a:off x="5257800" y="301752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Low, medium, high, critical thresholds</a:t>
            </a:r>
            <a:endParaRPr lang="en-US" sz="1400" dirty="0"/>
          </a:p>
        </p:txBody>
      </p:sp>
      <p:sp>
        <p:nvSpPr>
          <p:cNvPr id="22" name="arrow71"/>
          <p:cNvSpPr/>
          <p:nvPr/>
        </p:nvSpPr>
        <p:spPr>
          <a:xfrm>
            <a:off x="7141464" y="2926080"/>
            <a:ext cx="146304" cy="27432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card72"/>
          <p:cNvSpPr/>
          <p:nvPr/>
        </p:nvSpPr>
        <p:spPr>
          <a:xfrm>
            <a:off x="7338060" y="1874520"/>
            <a:ext cx="2011680" cy="251460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4" name="badge73"/>
          <p:cNvSpPr/>
          <p:nvPr/>
        </p:nvSpPr>
        <p:spPr>
          <a:xfrm>
            <a:off x="7520940" y="2057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con7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2171700"/>
            <a:ext cx="228600" cy="228600"/>
          </a:xfrm>
          <a:prstGeom prst="rect">
            <a:avLst/>
          </a:prstGeom>
        </p:spPr>
      </p:pic>
      <p:sp>
        <p:nvSpPr>
          <p:cNvPr id="26" name="text75"/>
          <p:cNvSpPr txBox="1"/>
          <p:nvPr/>
        </p:nvSpPr>
        <p:spPr>
          <a:xfrm>
            <a:off x="7520940" y="2606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Schedule</a:t>
            </a:r>
            <a:endParaRPr lang="en-US" sz="1600" dirty="0"/>
          </a:p>
        </p:txBody>
      </p:sp>
      <p:sp>
        <p:nvSpPr>
          <p:cNvPr id="27" name="text76"/>
          <p:cNvSpPr txBox="1"/>
          <p:nvPr/>
        </p:nvSpPr>
        <p:spPr>
          <a:xfrm>
            <a:off x="7520940" y="301752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Lower-load slots within feasible windows</a:t>
            </a:r>
            <a:endParaRPr lang="en-US" sz="1400" dirty="0"/>
          </a:p>
        </p:txBody>
      </p:sp>
      <p:sp>
        <p:nvSpPr>
          <p:cNvPr id="28" name="arrow77"/>
          <p:cNvSpPr/>
          <p:nvPr/>
        </p:nvSpPr>
        <p:spPr>
          <a:xfrm>
            <a:off x="9404604" y="2926080"/>
            <a:ext cx="146304" cy="27432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card78"/>
          <p:cNvSpPr/>
          <p:nvPr/>
        </p:nvSpPr>
        <p:spPr>
          <a:xfrm>
            <a:off x="9601200" y="1874520"/>
            <a:ext cx="2011680" cy="251460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0" name="badge79"/>
          <p:cNvSpPr/>
          <p:nvPr/>
        </p:nvSpPr>
        <p:spPr>
          <a:xfrm>
            <a:off x="9784080" y="2057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con8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8380" y="2171700"/>
            <a:ext cx="228600" cy="228600"/>
          </a:xfrm>
          <a:prstGeom prst="rect">
            <a:avLst/>
          </a:prstGeom>
        </p:spPr>
      </p:pic>
      <p:sp>
        <p:nvSpPr>
          <p:cNvPr id="32" name="text81"/>
          <p:cNvSpPr txBox="1"/>
          <p:nvPr/>
        </p:nvSpPr>
        <p:spPr>
          <a:xfrm>
            <a:off x="9784080" y="2606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Validate</a:t>
            </a:r>
            <a:endParaRPr lang="en-US" sz="1600" dirty="0"/>
          </a:p>
        </p:txBody>
      </p:sp>
      <p:sp>
        <p:nvSpPr>
          <p:cNvPr id="33" name="text82"/>
          <p:cNvSpPr txBox="1"/>
          <p:nvPr/>
        </p:nvSpPr>
        <p:spPr>
          <a:xfrm>
            <a:off x="9784080" y="301752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Energy delivered, deadline met, infeasible cases flagged</a:t>
            </a:r>
            <a:endParaRPr lang="en-US" sz="1400" dirty="0"/>
          </a:p>
        </p:txBody>
      </p:sp>
      <p:sp>
        <p:nvSpPr>
          <p:cNvPr id="34" name="card83"/>
          <p:cNvSpPr/>
          <p:nvPr/>
        </p:nvSpPr>
        <p:spPr>
          <a:xfrm>
            <a:off x="548640" y="457200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5" name="text84"/>
          <p:cNvSpPr txBox="1"/>
          <p:nvPr/>
        </p:nvSpPr>
        <p:spPr>
          <a:xfrm>
            <a:off x="777240" y="4572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3"/>
                </a:solidFill>
              </a:rPr>
              <a:t>CORE RULE</a:t>
            </a:r>
            <a:endParaRPr lang="en-US" sz="1400" dirty="0"/>
          </a:p>
        </p:txBody>
      </p:sp>
      <p:sp>
        <p:nvSpPr>
          <p:cNvPr id="36" name="text85"/>
          <p:cNvSpPr txBox="1"/>
          <p:nvPr/>
        </p:nvSpPr>
        <p:spPr>
          <a:xfrm>
            <a:off x="2286000" y="45720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 request is feasible only if the time window can deliver the required kWh at the stated charging power. If constraints conflict, EVkal reports the limitation.</a:t>
            </a:r>
            <a:endParaRPr lang="en-US" sz="1600" dirty="0"/>
          </a:p>
        </p:txBody>
      </p:sp>
      <p:sp>
        <p:nvSpPr>
          <p:cNvPr id="37" name="tag86"/>
          <p:cNvSpPr/>
          <p:nvPr/>
        </p:nvSpPr>
        <p:spPr>
          <a:xfrm>
            <a:off x="548640" y="5760720"/>
            <a:ext cx="2649474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8" name="text87"/>
          <p:cNvSpPr txBox="1"/>
          <p:nvPr/>
        </p:nvSpPr>
        <p:spPr>
          <a:xfrm>
            <a:off x="548640" y="5760720"/>
            <a:ext cx="26494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SIMULATED TRANSFORMER</a:t>
            </a:r>
            <a:endParaRPr lang="en-US" sz="1200" dirty="0"/>
          </a:p>
        </p:txBody>
      </p:sp>
      <p:sp>
        <p:nvSpPr>
          <p:cNvPr id="39" name="tag88"/>
          <p:cNvSpPr/>
          <p:nvPr/>
        </p:nvSpPr>
        <p:spPr>
          <a:xfrm>
            <a:off x="3353562" y="5760720"/>
            <a:ext cx="2649474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0" name="text89"/>
          <p:cNvSpPr txBox="1"/>
          <p:nvPr/>
        </p:nvSpPr>
        <p:spPr>
          <a:xfrm>
            <a:off x="3353562" y="5760720"/>
            <a:ext cx="26494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TIME-SLOT LOAD</a:t>
            </a:r>
            <a:endParaRPr lang="en-US" sz="1200" dirty="0"/>
          </a:p>
        </p:txBody>
      </p:sp>
      <p:sp>
        <p:nvSpPr>
          <p:cNvPr id="41" name="tag90"/>
          <p:cNvSpPr/>
          <p:nvPr/>
        </p:nvSpPr>
        <p:spPr>
          <a:xfrm>
            <a:off x="6158484" y="5760720"/>
            <a:ext cx="2649474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2" name="text91"/>
          <p:cNvSpPr txBox="1"/>
          <p:nvPr/>
        </p:nvSpPr>
        <p:spPr>
          <a:xfrm>
            <a:off x="6158484" y="5760720"/>
            <a:ext cx="26494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DEADLINE AWARE</a:t>
            </a:r>
            <a:endParaRPr lang="en-US" sz="1200" dirty="0"/>
          </a:p>
        </p:txBody>
      </p:sp>
      <p:sp>
        <p:nvSpPr>
          <p:cNvPr id="43" name="tag92"/>
          <p:cNvSpPr/>
          <p:nvPr/>
        </p:nvSpPr>
        <p:spPr>
          <a:xfrm>
            <a:off x="8963406" y="5760720"/>
            <a:ext cx="2649474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4" name="text93"/>
          <p:cNvSpPr txBox="1"/>
          <p:nvPr/>
        </p:nvSpPr>
        <p:spPr>
          <a:xfrm>
            <a:off x="8963406" y="5760720"/>
            <a:ext cx="26494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FEASIBILITY CHECK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8580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Make the scheduling decision visible</a:t>
            </a:r>
            <a:endParaRPr lang="en-US" sz="3400" dirty="0"/>
          </a:p>
        </p:txBody>
      </p:sp>
      <p:sp>
        <p:nvSpPr>
          <p:cNvPr id="3" name="text94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04  •  MEASURABLE IMPACT</a:t>
            </a:r>
            <a:endParaRPr lang="en-US" sz="1200" dirty="0"/>
          </a:p>
        </p:txBody>
      </p:sp>
      <p:sp>
        <p:nvSpPr>
          <p:cNvPr id="4" name="text95"/>
          <p:cNvSpPr txBox="1"/>
          <p:nvPr/>
        </p:nvSpPr>
        <p:spPr>
          <a:xfrm>
            <a:off x="54864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Compare calculated baseline and optimized schedules; use measured outputs only when the prototype produces them.</a:t>
            </a:r>
            <a:endParaRPr lang="en-US" sz="1600" dirty="0"/>
          </a:p>
        </p:txBody>
      </p:sp>
      <p:sp>
        <p:nvSpPr>
          <p:cNvPr id="5" name="card96"/>
          <p:cNvSpPr/>
          <p:nvPr/>
        </p:nvSpPr>
        <p:spPr>
          <a:xfrm>
            <a:off x="548640" y="1874520"/>
            <a:ext cx="6949440" cy="3611880"/>
          </a:xfrm>
          <a:prstGeom prst="roundRect">
            <a:avLst>
              <a:gd name="adj" fmla="val 3038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97"/>
          <p:cNvSpPr txBox="1"/>
          <p:nvPr/>
        </p:nvSpPr>
        <p:spPr>
          <a:xfrm>
            <a:off x="77724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Baseline vs optimized load</a:t>
            </a:r>
            <a:endParaRPr lang="en-US" sz="1600" dirty="0"/>
          </a:p>
        </p:txBody>
      </p:sp>
      <p:sp>
        <p:nvSpPr>
          <p:cNvPr id="7" name="text98"/>
          <p:cNvSpPr txBox="1"/>
          <p:nvPr/>
        </p:nvSpPr>
        <p:spPr>
          <a:xfrm>
            <a:off x="777240" y="2331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Illustrative profile  •  conceptual, not project results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85800" y="2651760"/>
          <a:ext cx="667512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card99"/>
          <p:cNvSpPr/>
          <p:nvPr/>
        </p:nvSpPr>
        <p:spPr>
          <a:xfrm>
            <a:off x="7726680" y="1874520"/>
            <a:ext cx="388620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100"/>
          <p:cNvSpPr txBox="1"/>
          <p:nvPr/>
        </p:nvSpPr>
        <p:spPr>
          <a:xfrm>
            <a:off x="7955280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1"/>
                </a:solidFill>
              </a:rPr>
              <a:t>PEAK REDUCTION</a:t>
            </a:r>
            <a:endParaRPr lang="en-US" sz="1400" dirty="0"/>
          </a:p>
        </p:txBody>
      </p:sp>
      <p:sp>
        <p:nvSpPr>
          <p:cNvPr id="11" name="text101"/>
          <p:cNvSpPr txBox="1"/>
          <p:nvPr/>
        </p:nvSpPr>
        <p:spPr>
          <a:xfrm>
            <a:off x="7955280" y="23317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(Baseline peak − Optimized peak) ÷ Baseline peak × 100</a:t>
            </a:r>
            <a:endParaRPr lang="en-US" sz="1400" dirty="0"/>
          </a:p>
        </p:txBody>
      </p:sp>
      <p:sp>
        <p:nvSpPr>
          <p:cNvPr id="12" name="card102"/>
          <p:cNvSpPr/>
          <p:nvPr/>
        </p:nvSpPr>
        <p:spPr>
          <a:xfrm>
            <a:off x="7726680" y="3063240"/>
            <a:ext cx="388620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text103"/>
          <p:cNvSpPr txBox="1"/>
          <p:nvPr/>
        </p:nvSpPr>
        <p:spPr>
          <a:xfrm>
            <a:off x="795528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2"/>
                </a:solidFill>
              </a:rPr>
              <a:t>TRANSFORMER UTILIZATION</a:t>
            </a:r>
            <a:endParaRPr lang="en-US" sz="1400" dirty="0"/>
          </a:p>
        </p:txBody>
      </p:sp>
      <p:sp>
        <p:nvSpPr>
          <p:cNvPr id="14" name="text104"/>
          <p:cNvSpPr txBox="1"/>
          <p:nvPr/>
        </p:nvSpPr>
        <p:spPr>
          <a:xfrm>
            <a:off x="7955280" y="35204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Total simulated load ÷ configured capacity</a:t>
            </a:r>
            <a:endParaRPr lang="en-US" sz="1400" dirty="0"/>
          </a:p>
        </p:txBody>
      </p:sp>
      <p:sp>
        <p:nvSpPr>
          <p:cNvPr id="15" name="card105"/>
          <p:cNvSpPr/>
          <p:nvPr/>
        </p:nvSpPr>
        <p:spPr>
          <a:xfrm>
            <a:off x="7726680" y="4251960"/>
            <a:ext cx="388620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text106"/>
          <p:cNvSpPr txBox="1"/>
          <p:nvPr/>
        </p:nvSpPr>
        <p:spPr>
          <a:xfrm>
            <a:off x="7955280" y="4389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3"/>
                </a:solidFill>
              </a:rPr>
              <a:t>COST / INCENTIVE</a:t>
            </a:r>
            <a:endParaRPr lang="en-US" sz="1400" dirty="0"/>
          </a:p>
        </p:txBody>
      </p:sp>
      <p:sp>
        <p:nvSpPr>
          <p:cNvPr id="17" name="text107"/>
          <p:cNvSpPr txBox="1"/>
          <p:nvPr/>
        </p:nvSpPr>
        <p:spPr>
          <a:xfrm>
            <a:off x="7955280" y="47091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Illustrative demand-linked rule; not an official tariff</a:t>
            </a:r>
            <a:endParaRPr lang="en-US" sz="1400" dirty="0"/>
          </a:p>
        </p:txBody>
      </p:sp>
      <p:sp>
        <p:nvSpPr>
          <p:cNvPr id="18" name="text108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Success = a calculated peak reduction without breaking energy needs or deadlines, or an honest explanation when none is feasible.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8580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Turn underused chargers into local options</a:t>
            </a:r>
            <a:endParaRPr lang="en-US" sz="3400" dirty="0"/>
          </a:p>
        </p:txBody>
      </p:sp>
      <p:sp>
        <p:nvSpPr>
          <p:cNvPr id="3" name="text109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05  •  CHARGER SHARING + USER JOURNEY</a:t>
            </a:r>
            <a:endParaRPr lang="en-US" sz="1200" dirty="0"/>
          </a:p>
        </p:txBody>
      </p:sp>
      <p:sp>
        <p:nvSpPr>
          <p:cNvPr id="4" name="text110"/>
          <p:cNvSpPr txBox="1"/>
          <p:nvPr/>
        </p:nvSpPr>
        <p:spPr>
          <a:xfrm>
            <a:off x="54864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One interface, two paths: optimize a planned session or request a compatible nearby charger.</a:t>
            </a:r>
            <a:endParaRPr lang="en-US" sz="1600" dirty="0"/>
          </a:p>
        </p:txBody>
      </p:sp>
      <p:sp>
        <p:nvSpPr>
          <p:cNvPr id="5" name="card111"/>
          <p:cNvSpPr/>
          <p:nvPr/>
        </p:nvSpPr>
        <p:spPr>
          <a:xfrm>
            <a:off x="548640" y="1874520"/>
            <a:ext cx="3611880" cy="27432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badge112"/>
          <p:cNvSpPr/>
          <p:nvPr/>
        </p:nvSpPr>
        <p:spPr>
          <a:xfrm>
            <a:off x="777240" y="20116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11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2114550"/>
            <a:ext cx="205740" cy="205740"/>
          </a:xfrm>
          <a:prstGeom prst="rect">
            <a:avLst/>
          </a:prstGeom>
        </p:spPr>
      </p:pic>
      <p:sp>
        <p:nvSpPr>
          <p:cNvPr id="8" name="text114"/>
          <p:cNvSpPr txBox="1"/>
          <p:nvPr/>
        </p:nvSpPr>
        <p:spPr>
          <a:xfrm>
            <a:off x="1325880" y="2011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HOST: LIST A CHARGER</a:t>
            </a:r>
            <a:endParaRPr lang="en-US" sz="1400" dirty="0"/>
          </a:p>
        </p:txBody>
      </p:sp>
      <p:sp>
        <p:nvSpPr>
          <p:cNvPr id="9" name="text115"/>
          <p:cNvSpPr txBox="1"/>
          <p:nvPr/>
        </p:nvSpPr>
        <p:spPr>
          <a:xfrm>
            <a:off x="777240" y="260604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bg1"/>
                </a:solidFill>
              </a:rPr>
              <a:t>Add charger details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bg1"/>
                </a:solidFill>
              </a:rPr>
              <a:t>Set connector and power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bg1"/>
                </a:solidFill>
              </a:rPr>
              <a:t>Choose available time windows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bg1"/>
                </a:solidFill>
              </a:rPr>
              <a:t>Set price and access conditions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bg1"/>
                </a:solidFill>
              </a:rPr>
              <a:t>Accept or decline requests</a:t>
            </a:r>
            <a:endParaRPr lang="en-US" sz="1400" dirty="0"/>
          </a:p>
        </p:txBody>
      </p:sp>
      <p:sp>
        <p:nvSpPr>
          <p:cNvPr id="10" name="card116"/>
          <p:cNvSpPr/>
          <p:nvPr/>
        </p:nvSpPr>
        <p:spPr>
          <a:xfrm>
            <a:off x="8001000" y="1874520"/>
            <a:ext cx="3611880" cy="27432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badge117"/>
          <p:cNvSpPr/>
          <p:nvPr/>
        </p:nvSpPr>
        <p:spPr>
          <a:xfrm>
            <a:off x="8229600" y="201168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11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2470" y="2114550"/>
            <a:ext cx="205740" cy="205740"/>
          </a:xfrm>
          <a:prstGeom prst="rect">
            <a:avLst/>
          </a:prstGeom>
        </p:spPr>
      </p:pic>
      <p:sp>
        <p:nvSpPr>
          <p:cNvPr id="13" name="text119"/>
          <p:cNvSpPr txBox="1"/>
          <p:nvPr/>
        </p:nvSpPr>
        <p:spPr>
          <a:xfrm>
            <a:off x="8778240" y="2011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DRIVER: REQUEST ACCESS</a:t>
            </a:r>
            <a:endParaRPr lang="en-US" sz="1400" dirty="0"/>
          </a:p>
        </p:txBody>
      </p:sp>
      <p:sp>
        <p:nvSpPr>
          <p:cNvPr id="14" name="text120"/>
          <p:cNvSpPr txBox="1"/>
          <p:nvPr/>
        </p:nvSpPr>
        <p:spPr>
          <a:xfrm>
            <a:off x="8229600" y="260604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bg1"/>
                </a:solidFill>
              </a:rPr>
              <a:t>Enter location and radius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bg1"/>
                </a:solidFill>
              </a:rPr>
              <a:t>Filter compatible connectors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bg1"/>
                </a:solidFill>
              </a:rPr>
              <a:t>Review distance, power, price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bg1"/>
                </a:solidFill>
              </a:rPr>
              <a:t>Check host access conditions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bg1"/>
                </a:solidFill>
              </a:rPr>
              <a:t>Request and pay (test mode)</a:t>
            </a:r>
            <a:endParaRPr lang="en-US" sz="1400" dirty="0"/>
          </a:p>
        </p:txBody>
      </p:sp>
      <p:sp>
        <p:nvSpPr>
          <p:cNvPr id="15" name="card121"/>
          <p:cNvSpPr/>
          <p:nvPr/>
        </p:nvSpPr>
        <p:spPr>
          <a:xfrm>
            <a:off x="4389120" y="1874520"/>
            <a:ext cx="3383280" cy="27432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text122"/>
          <p:cNvSpPr txBox="1"/>
          <p:nvPr/>
        </p:nvSpPr>
        <p:spPr>
          <a:xfrm>
            <a:off x="4572000" y="2011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NEARBY SEARCH  •  CONCEPT</a:t>
            </a:r>
            <a:endParaRPr lang="en-US" sz="1400" dirty="0"/>
          </a:p>
        </p:txBody>
      </p:sp>
      <p:sp>
        <p:nvSpPr>
          <p:cNvPr id="17" name="road123"/>
          <p:cNvSpPr/>
          <p:nvPr/>
        </p:nvSpPr>
        <p:spPr>
          <a:xfrm>
            <a:off x="4617720" y="3017520"/>
            <a:ext cx="292608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8" name="road124"/>
          <p:cNvSpPr/>
          <p:nvPr/>
        </p:nvSpPr>
        <p:spPr>
          <a:xfrm>
            <a:off x="4617720" y="3520440"/>
            <a:ext cx="292608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9" name="road125"/>
          <p:cNvSpPr/>
          <p:nvPr/>
        </p:nvSpPr>
        <p:spPr>
          <a:xfrm>
            <a:off x="4617720" y="4023360"/>
            <a:ext cx="292608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0" name="road126"/>
          <p:cNvSpPr/>
          <p:nvPr/>
        </p:nvSpPr>
        <p:spPr>
          <a:xfrm>
            <a:off x="5257800" y="2514600"/>
            <a:ext cx="0" cy="17830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1" name="road127"/>
          <p:cNvSpPr/>
          <p:nvPr/>
        </p:nvSpPr>
        <p:spPr>
          <a:xfrm>
            <a:off x="6080760" y="2514600"/>
            <a:ext cx="0" cy="17830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2" name="road128"/>
          <p:cNvSpPr/>
          <p:nvPr/>
        </p:nvSpPr>
        <p:spPr>
          <a:xfrm>
            <a:off x="6903720" y="2514600"/>
            <a:ext cx="0" cy="17830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3" name="pin129"/>
          <p:cNvSpPr/>
          <p:nvPr/>
        </p:nvSpPr>
        <p:spPr>
          <a:xfrm>
            <a:off x="5129784" y="2889504"/>
            <a:ext cx="256032" cy="25603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24" name="pin130"/>
          <p:cNvSpPr/>
          <p:nvPr/>
        </p:nvSpPr>
        <p:spPr>
          <a:xfrm>
            <a:off x="5952744" y="3392424"/>
            <a:ext cx="256032" cy="256032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25" name="pin131"/>
          <p:cNvSpPr/>
          <p:nvPr/>
        </p:nvSpPr>
        <p:spPr>
          <a:xfrm>
            <a:off x="6775704" y="3895344"/>
            <a:ext cx="256032" cy="25603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26" name="pin132"/>
          <p:cNvSpPr/>
          <p:nvPr/>
        </p:nvSpPr>
        <p:spPr>
          <a:xfrm>
            <a:off x="6775704" y="2889504"/>
            <a:ext cx="256032" cy="256032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27" name="text133"/>
          <p:cNvSpPr txBox="1"/>
          <p:nvPr/>
        </p:nvSpPr>
        <p:spPr>
          <a:xfrm>
            <a:off x="4572000" y="4251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Radius  •  compatibility  •  availability</a:t>
            </a:r>
            <a:endParaRPr lang="en-US" sz="1200" dirty="0"/>
          </a:p>
        </p:txBody>
      </p:sp>
      <p:sp>
        <p:nvSpPr>
          <p:cNvPr id="28" name="text134"/>
          <p:cNvSpPr txBox="1"/>
          <p:nvPr/>
        </p:nvSpPr>
        <p:spPr>
          <a:xfrm>
            <a:off x="548640" y="4800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3"/>
                </a:solidFill>
              </a:rPr>
              <a:t>REQUEST STATE</a:t>
            </a:r>
            <a:endParaRPr lang="en-US" sz="1400" dirty="0"/>
          </a:p>
        </p:txBody>
      </p:sp>
      <p:sp>
        <p:nvSpPr>
          <p:cNvPr id="29" name="card135"/>
          <p:cNvSpPr/>
          <p:nvPr/>
        </p:nvSpPr>
        <p:spPr>
          <a:xfrm>
            <a:off x="2377440" y="4800600"/>
            <a:ext cx="2103120" cy="411480"/>
          </a:xfrm>
          <a:prstGeom prst="roundRect">
            <a:avLst>
              <a:gd name="adj" fmla="val 48889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0" name="text136"/>
          <p:cNvSpPr txBox="1"/>
          <p:nvPr/>
        </p:nvSpPr>
        <p:spPr>
          <a:xfrm>
            <a:off x="2377440" y="4800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Available</a:t>
            </a:r>
            <a:endParaRPr lang="en-US" sz="1400" dirty="0"/>
          </a:p>
        </p:txBody>
      </p:sp>
      <p:sp>
        <p:nvSpPr>
          <p:cNvPr id="31" name="card137"/>
          <p:cNvSpPr/>
          <p:nvPr/>
        </p:nvSpPr>
        <p:spPr>
          <a:xfrm>
            <a:off x="4709160" y="4800600"/>
            <a:ext cx="2103120" cy="411480"/>
          </a:xfrm>
          <a:prstGeom prst="roundRect">
            <a:avLst>
              <a:gd name="adj" fmla="val 48889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2" name="text138"/>
          <p:cNvSpPr txBox="1"/>
          <p:nvPr/>
        </p:nvSpPr>
        <p:spPr>
          <a:xfrm>
            <a:off x="4709160" y="4800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Requested</a:t>
            </a:r>
            <a:endParaRPr lang="en-US" sz="1400" dirty="0"/>
          </a:p>
        </p:txBody>
      </p:sp>
      <p:sp>
        <p:nvSpPr>
          <p:cNvPr id="33" name="card139"/>
          <p:cNvSpPr/>
          <p:nvPr/>
        </p:nvSpPr>
        <p:spPr>
          <a:xfrm>
            <a:off x="7040880" y="4800600"/>
            <a:ext cx="2103120" cy="411480"/>
          </a:xfrm>
          <a:prstGeom prst="roundRect">
            <a:avLst>
              <a:gd name="adj" fmla="val 48889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4" name="text140"/>
          <p:cNvSpPr txBox="1"/>
          <p:nvPr/>
        </p:nvSpPr>
        <p:spPr>
          <a:xfrm>
            <a:off x="7040880" y="4800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Accepted / Declined</a:t>
            </a:r>
            <a:endParaRPr lang="en-US" sz="1400" dirty="0"/>
          </a:p>
        </p:txBody>
      </p:sp>
      <p:sp>
        <p:nvSpPr>
          <p:cNvPr id="35" name="card141"/>
          <p:cNvSpPr/>
          <p:nvPr/>
        </p:nvSpPr>
        <p:spPr>
          <a:xfrm>
            <a:off x="9372600" y="4800600"/>
            <a:ext cx="2103120" cy="411480"/>
          </a:xfrm>
          <a:prstGeom prst="roundRect">
            <a:avLst>
              <a:gd name="adj" fmla="val 48889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6" name="text142"/>
          <p:cNvSpPr txBox="1"/>
          <p:nvPr/>
        </p:nvSpPr>
        <p:spPr>
          <a:xfrm>
            <a:off x="9372600" y="4800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Completed / Cancelled</a:t>
            </a:r>
            <a:endParaRPr lang="en-US" sz="1400" dirty="0"/>
          </a:p>
        </p:txBody>
      </p:sp>
      <p:sp>
        <p:nvSpPr>
          <p:cNvPr id="37" name="tag143"/>
          <p:cNvSpPr/>
          <p:nvPr/>
        </p:nvSpPr>
        <p:spPr>
          <a:xfrm>
            <a:off x="548640" y="5440680"/>
            <a:ext cx="2649474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8" name="text144"/>
          <p:cNvSpPr txBox="1"/>
          <p:nvPr/>
        </p:nvSpPr>
        <p:spPr>
          <a:xfrm>
            <a:off x="548640" y="5440680"/>
            <a:ext cx="26494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OPT-IN LISTINGS</a:t>
            </a:r>
            <a:endParaRPr lang="en-US" sz="1200" dirty="0"/>
          </a:p>
        </p:txBody>
      </p:sp>
      <p:sp>
        <p:nvSpPr>
          <p:cNvPr id="39" name="tag145"/>
          <p:cNvSpPr/>
          <p:nvPr/>
        </p:nvSpPr>
        <p:spPr>
          <a:xfrm>
            <a:off x="3353562" y="5440680"/>
            <a:ext cx="2649474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0" name="text146"/>
          <p:cNvSpPr txBox="1"/>
          <p:nvPr/>
        </p:nvSpPr>
        <p:spPr>
          <a:xfrm>
            <a:off x="3353562" y="5440680"/>
            <a:ext cx="26494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COMPATIBILITY</a:t>
            </a:r>
            <a:endParaRPr lang="en-US" sz="1200" dirty="0"/>
          </a:p>
        </p:txBody>
      </p:sp>
      <p:sp>
        <p:nvSpPr>
          <p:cNvPr id="41" name="tag147"/>
          <p:cNvSpPr/>
          <p:nvPr/>
        </p:nvSpPr>
        <p:spPr>
          <a:xfrm>
            <a:off x="6158484" y="5440680"/>
            <a:ext cx="2649474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2" name="text148"/>
          <p:cNvSpPr txBox="1"/>
          <p:nvPr/>
        </p:nvSpPr>
        <p:spPr>
          <a:xfrm>
            <a:off x="6158484" y="5440680"/>
            <a:ext cx="26494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AVAILABILITY</a:t>
            </a:r>
            <a:endParaRPr lang="en-US" sz="1200" dirty="0"/>
          </a:p>
        </p:txBody>
      </p:sp>
      <p:sp>
        <p:nvSpPr>
          <p:cNvPr id="43" name="tag149"/>
          <p:cNvSpPr/>
          <p:nvPr/>
        </p:nvSpPr>
        <p:spPr>
          <a:xfrm>
            <a:off x="8963406" y="5440680"/>
            <a:ext cx="2649474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4" name="text150"/>
          <p:cNvSpPr txBox="1"/>
          <p:nvPr/>
        </p:nvSpPr>
        <p:spPr>
          <a:xfrm>
            <a:off x="8963406" y="5440680"/>
            <a:ext cx="26494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HOST CONSENT</a:t>
            </a:r>
            <a:endParaRPr lang="en-US" sz="1200" dirty="0"/>
          </a:p>
        </p:txBody>
      </p:sp>
      <p:sp>
        <p:nvSpPr>
          <p:cNvPr id="45" name="text151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Statuses are a prototype workflow; access is never guaranteed until the host accepts.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8580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The EVkal prototype at a glance</a:t>
            </a:r>
            <a:endParaRPr lang="en-US" sz="3400" dirty="0"/>
          </a:p>
        </p:txBody>
      </p:sp>
      <p:sp>
        <p:nvSpPr>
          <p:cNvPr id="3" name="text15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06  •  LIVE PROTOTYPE</a:t>
            </a:r>
            <a:endParaRPr lang="en-US" sz="1200" dirty="0"/>
          </a:p>
        </p:txBody>
      </p:sp>
      <p:sp>
        <p:nvSpPr>
          <p:cNvPr id="4" name="text153"/>
          <p:cNvSpPr txBox="1"/>
          <p:nvPr/>
        </p:nvSpPr>
        <p:spPr>
          <a:xfrm>
            <a:off x="54864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Concept screens for the demo; swap in real screenshots as the build progresses.</a:t>
            </a:r>
            <a:endParaRPr lang="en-US" sz="1600" dirty="0"/>
          </a:p>
        </p:txBody>
      </p:sp>
      <p:sp>
        <p:nvSpPr>
          <p:cNvPr id="5" name="card154"/>
          <p:cNvSpPr/>
          <p:nvPr/>
        </p:nvSpPr>
        <p:spPr>
          <a:xfrm>
            <a:off x="548640" y="1874520"/>
            <a:ext cx="7040880" cy="420624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dot155"/>
          <p:cNvSpPr/>
          <p:nvPr/>
        </p:nvSpPr>
        <p:spPr>
          <a:xfrm>
            <a:off x="777240" y="2029968"/>
            <a:ext cx="128016" cy="128016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dot156"/>
          <p:cNvSpPr/>
          <p:nvPr/>
        </p:nvSpPr>
        <p:spPr>
          <a:xfrm>
            <a:off x="978408" y="2029968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dot157"/>
          <p:cNvSpPr/>
          <p:nvPr/>
        </p:nvSpPr>
        <p:spPr>
          <a:xfrm>
            <a:off x="1179576" y="2029968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card158"/>
          <p:cNvSpPr/>
          <p:nvPr/>
        </p:nvSpPr>
        <p:spPr>
          <a:xfrm>
            <a:off x="2011680" y="1938528"/>
            <a:ext cx="3474720" cy="31089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159"/>
          <p:cNvSpPr txBox="1"/>
          <p:nvPr/>
        </p:nvSpPr>
        <p:spPr>
          <a:xfrm>
            <a:off x="2011680" y="193852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evkal.app / dashboard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85800" y="2331720"/>
          <a:ext cx="448056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card160"/>
          <p:cNvSpPr/>
          <p:nvPr/>
        </p:nvSpPr>
        <p:spPr>
          <a:xfrm>
            <a:off x="5349240" y="2377440"/>
            <a:ext cx="2011680" cy="658368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text161"/>
          <p:cNvSpPr txBox="1"/>
          <p:nvPr/>
        </p:nvSpPr>
        <p:spPr>
          <a:xfrm>
            <a:off x="5486400" y="24140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28%</a:t>
            </a:r>
            <a:endParaRPr lang="en-US" sz="2000" dirty="0"/>
          </a:p>
        </p:txBody>
      </p:sp>
      <p:sp>
        <p:nvSpPr>
          <p:cNvPr id="14" name="text162"/>
          <p:cNvSpPr txBox="1"/>
          <p:nvPr/>
        </p:nvSpPr>
        <p:spPr>
          <a:xfrm>
            <a:off x="5486400" y="27614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Peak reduction</a:t>
            </a:r>
            <a:endParaRPr lang="en-US" sz="1200" dirty="0"/>
          </a:p>
        </p:txBody>
      </p:sp>
      <p:sp>
        <p:nvSpPr>
          <p:cNvPr id="15" name="card163"/>
          <p:cNvSpPr/>
          <p:nvPr/>
        </p:nvSpPr>
        <p:spPr>
          <a:xfrm>
            <a:off x="5349240" y="3127248"/>
            <a:ext cx="2011680" cy="658368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text164"/>
          <p:cNvSpPr txBox="1"/>
          <p:nvPr/>
        </p:nvSpPr>
        <p:spPr>
          <a:xfrm>
            <a:off x="5486400" y="31638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61%</a:t>
            </a:r>
            <a:endParaRPr lang="en-US" sz="2000" dirty="0"/>
          </a:p>
        </p:txBody>
      </p:sp>
      <p:sp>
        <p:nvSpPr>
          <p:cNvPr id="17" name="text165"/>
          <p:cNvSpPr txBox="1"/>
          <p:nvPr/>
        </p:nvSpPr>
        <p:spPr>
          <a:xfrm>
            <a:off x="5486400" y="35112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Transformer load</a:t>
            </a:r>
            <a:endParaRPr lang="en-US" sz="1200" dirty="0"/>
          </a:p>
        </p:txBody>
      </p:sp>
      <p:sp>
        <p:nvSpPr>
          <p:cNvPr id="18" name="card166"/>
          <p:cNvSpPr/>
          <p:nvPr/>
        </p:nvSpPr>
        <p:spPr>
          <a:xfrm>
            <a:off x="5349240" y="3877056"/>
            <a:ext cx="2011680" cy="658368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text167"/>
          <p:cNvSpPr txBox="1"/>
          <p:nvPr/>
        </p:nvSpPr>
        <p:spPr>
          <a:xfrm>
            <a:off x="5486400" y="39136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₹14</a:t>
            </a:r>
            <a:endParaRPr lang="en-US" sz="2000" dirty="0"/>
          </a:p>
        </p:txBody>
      </p:sp>
      <p:sp>
        <p:nvSpPr>
          <p:cNvPr id="20" name="text168"/>
          <p:cNvSpPr txBox="1"/>
          <p:nvPr/>
        </p:nvSpPr>
        <p:spPr>
          <a:xfrm>
            <a:off x="5486400" y="42611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Saving / session</a:t>
            </a:r>
            <a:endParaRPr lang="en-US" sz="1200" dirty="0"/>
          </a:p>
        </p:txBody>
      </p:sp>
      <p:sp>
        <p:nvSpPr>
          <p:cNvPr id="21" name="text169"/>
          <p:cNvSpPr txBox="1"/>
          <p:nvPr/>
        </p:nvSpPr>
        <p:spPr>
          <a:xfrm>
            <a:off x="77724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SESSION SCHEDULE  •  sample values</a:t>
            </a:r>
            <a:endParaRPr lang="en-US" sz="1200" dirty="0"/>
          </a:p>
        </p:txBody>
      </p:sp>
      <p:sp>
        <p:nvSpPr>
          <p:cNvPr id="22" name="Peak window"/>
          <p:cNvSpPr/>
          <p:nvPr/>
        </p:nvSpPr>
        <p:spPr>
          <a:xfrm>
            <a:off x="5504688" y="4937760"/>
            <a:ext cx="950976" cy="896112"/>
          </a:xfrm>
          <a:prstGeom prst="rect">
            <a:avLst/>
          </a:prstGeom>
          <a:solidFill>
            <a:schemeClr val="accent3">
              <a:alpha val="3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170"/>
          <p:cNvSpPr txBox="1"/>
          <p:nvPr/>
        </p:nvSpPr>
        <p:spPr>
          <a:xfrm>
            <a:off x="5504688" y="4645152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PEAK 17-21h</a:t>
            </a:r>
            <a:endParaRPr lang="en-US" sz="1200" dirty="0"/>
          </a:p>
        </p:txBody>
      </p:sp>
      <p:sp>
        <p:nvSpPr>
          <p:cNvPr id="24" name="text171"/>
          <p:cNvSpPr txBox="1"/>
          <p:nvPr/>
        </p:nvSpPr>
        <p:spPr>
          <a:xfrm>
            <a:off x="777240" y="498348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EV-1</a:t>
            </a:r>
            <a:endParaRPr lang="en-US" sz="1200" dirty="0"/>
          </a:p>
        </p:txBody>
      </p:sp>
      <p:sp>
        <p:nvSpPr>
          <p:cNvPr id="25" name="bar172"/>
          <p:cNvSpPr/>
          <p:nvPr/>
        </p:nvSpPr>
        <p:spPr>
          <a:xfrm>
            <a:off x="1463040" y="4983480"/>
            <a:ext cx="1188720" cy="219456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173"/>
          <p:cNvSpPr txBox="1"/>
          <p:nvPr/>
        </p:nvSpPr>
        <p:spPr>
          <a:xfrm>
            <a:off x="777240" y="527608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EV-2</a:t>
            </a:r>
            <a:endParaRPr lang="en-US" sz="1200" dirty="0"/>
          </a:p>
        </p:txBody>
      </p:sp>
      <p:sp>
        <p:nvSpPr>
          <p:cNvPr id="27" name="bar174"/>
          <p:cNvSpPr/>
          <p:nvPr/>
        </p:nvSpPr>
        <p:spPr>
          <a:xfrm>
            <a:off x="3602736" y="5276088"/>
            <a:ext cx="1188720" cy="219456"/>
          </a:xfrm>
          <a:prstGeom prst="roundRect">
            <a:avLst>
              <a:gd name="adj" fmla="val 41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175"/>
          <p:cNvSpPr txBox="1"/>
          <p:nvPr/>
        </p:nvSpPr>
        <p:spPr>
          <a:xfrm>
            <a:off x="777240" y="556869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EV-3</a:t>
            </a:r>
            <a:endParaRPr lang="en-US" sz="1200" dirty="0"/>
          </a:p>
        </p:txBody>
      </p:sp>
      <p:sp>
        <p:nvSpPr>
          <p:cNvPr id="29" name="bar176"/>
          <p:cNvSpPr/>
          <p:nvPr/>
        </p:nvSpPr>
        <p:spPr>
          <a:xfrm>
            <a:off x="1700784" y="5568696"/>
            <a:ext cx="1426464" cy="219456"/>
          </a:xfrm>
          <a:prstGeom prst="roundRect">
            <a:avLst>
              <a:gd name="adj" fmla="val 41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card177"/>
          <p:cNvSpPr/>
          <p:nvPr/>
        </p:nvSpPr>
        <p:spPr>
          <a:xfrm>
            <a:off x="8595360" y="1874520"/>
            <a:ext cx="2560320" cy="4206240"/>
          </a:xfrm>
          <a:prstGeom prst="roundRect">
            <a:avLst>
              <a:gd name="adj" fmla="val 10714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1" name="text178"/>
          <p:cNvSpPr txBox="1"/>
          <p:nvPr/>
        </p:nvSpPr>
        <p:spPr>
          <a:xfrm>
            <a:off x="877824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Nearby chargers</a:t>
            </a:r>
            <a:endParaRPr lang="en-US" sz="1400" dirty="0"/>
          </a:p>
        </p:txBody>
      </p:sp>
      <p:sp>
        <p:nvSpPr>
          <p:cNvPr id="32" name="card179"/>
          <p:cNvSpPr/>
          <p:nvPr/>
        </p:nvSpPr>
        <p:spPr>
          <a:xfrm>
            <a:off x="8778240" y="2514600"/>
            <a:ext cx="2194560" cy="13716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3" name="pin180"/>
          <p:cNvSpPr/>
          <p:nvPr/>
        </p:nvSpPr>
        <p:spPr>
          <a:xfrm>
            <a:off x="9052560" y="2834640"/>
            <a:ext cx="219456" cy="21945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34" name="pin181"/>
          <p:cNvSpPr/>
          <p:nvPr/>
        </p:nvSpPr>
        <p:spPr>
          <a:xfrm>
            <a:off x="9784080" y="3383280"/>
            <a:ext cx="219456" cy="219456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35" name="pin182"/>
          <p:cNvSpPr/>
          <p:nvPr/>
        </p:nvSpPr>
        <p:spPr>
          <a:xfrm>
            <a:off x="10515600" y="2926080"/>
            <a:ext cx="219456" cy="21945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36" name="card183"/>
          <p:cNvSpPr/>
          <p:nvPr/>
        </p:nvSpPr>
        <p:spPr>
          <a:xfrm>
            <a:off x="8778240" y="4023360"/>
            <a:ext cx="2194560" cy="566928"/>
          </a:xfrm>
          <a:prstGeom prst="roundRect">
            <a:avLst>
              <a:gd name="adj" fmla="val 16129"/>
            </a:avLst>
          </a:prstGeom>
          <a:solidFill>
            <a:schemeClr val="tx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7" name="text184"/>
          <p:cNvSpPr txBox="1"/>
          <p:nvPr/>
        </p:nvSpPr>
        <p:spPr>
          <a:xfrm>
            <a:off x="8887968" y="4069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Home charger  •  0.8 km</a:t>
            </a:r>
            <a:endParaRPr lang="en-US" sz="1200" dirty="0"/>
          </a:p>
        </p:txBody>
      </p:sp>
      <p:sp>
        <p:nvSpPr>
          <p:cNvPr id="38" name="text185"/>
          <p:cNvSpPr txBox="1"/>
          <p:nvPr/>
        </p:nvSpPr>
        <p:spPr>
          <a:xfrm>
            <a:off x="8887968" y="43251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7.4 kW  •  Type 2</a:t>
            </a:r>
            <a:endParaRPr lang="en-US" sz="1200" dirty="0"/>
          </a:p>
        </p:txBody>
      </p:sp>
      <p:sp>
        <p:nvSpPr>
          <p:cNvPr id="39" name="card186"/>
          <p:cNvSpPr/>
          <p:nvPr/>
        </p:nvSpPr>
        <p:spPr>
          <a:xfrm>
            <a:off x="8778240" y="4681728"/>
            <a:ext cx="2194560" cy="566928"/>
          </a:xfrm>
          <a:prstGeom prst="roundRect">
            <a:avLst>
              <a:gd name="adj" fmla="val 16129"/>
            </a:avLst>
          </a:prstGeom>
          <a:solidFill>
            <a:schemeClr val="tx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0" name="text187"/>
          <p:cNvSpPr txBox="1"/>
          <p:nvPr/>
        </p:nvSpPr>
        <p:spPr>
          <a:xfrm>
            <a:off x="8887968" y="47274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Society parking  •  1.4 km</a:t>
            </a:r>
            <a:endParaRPr lang="en-US" sz="1200" dirty="0"/>
          </a:p>
        </p:txBody>
      </p:sp>
      <p:sp>
        <p:nvSpPr>
          <p:cNvPr id="41" name="text188"/>
          <p:cNvSpPr txBox="1"/>
          <p:nvPr/>
        </p:nvSpPr>
        <p:spPr>
          <a:xfrm>
            <a:off x="8887968" y="4983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3.3 kW  •  Available</a:t>
            </a:r>
            <a:endParaRPr lang="en-US" sz="1200" dirty="0"/>
          </a:p>
        </p:txBody>
      </p:sp>
      <p:sp>
        <p:nvSpPr>
          <p:cNvPr id="42" name="card189"/>
          <p:cNvSpPr/>
          <p:nvPr/>
        </p:nvSpPr>
        <p:spPr>
          <a:xfrm>
            <a:off x="8778240" y="5440680"/>
            <a:ext cx="219456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3" name="text190"/>
          <p:cNvSpPr txBox="1"/>
          <p:nvPr/>
        </p:nvSpPr>
        <p:spPr>
          <a:xfrm>
            <a:off x="8778240" y="5440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Request &amp; pay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8580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Pay securely with Razorpay</a:t>
            </a:r>
            <a:endParaRPr lang="en-US" sz="3400" dirty="0"/>
          </a:p>
        </p:txBody>
      </p:sp>
      <p:sp>
        <p:nvSpPr>
          <p:cNvPr id="3" name="text191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07  •  PAYMENTS</a:t>
            </a:r>
            <a:endParaRPr lang="en-US" sz="1200" dirty="0"/>
          </a:p>
        </p:txBody>
      </p:sp>
      <p:sp>
        <p:nvSpPr>
          <p:cNvPr id="4" name="text192"/>
          <p:cNvSpPr txBox="1"/>
          <p:nvPr/>
        </p:nvSpPr>
        <p:spPr>
          <a:xfrm>
            <a:off x="54864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Test-mode checkout in the demo; the same flow extends to live UPI, card and netbanking payments.</a:t>
            </a:r>
            <a:endParaRPr lang="en-US" sz="1600" dirty="0"/>
          </a:p>
        </p:txBody>
      </p:sp>
      <p:sp>
        <p:nvSpPr>
          <p:cNvPr id="5" name="card193"/>
          <p:cNvSpPr/>
          <p:nvPr/>
        </p:nvSpPr>
        <p:spPr>
          <a:xfrm>
            <a:off x="548640" y="187452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badge194"/>
          <p:cNvSpPr/>
          <p:nvPr/>
        </p:nvSpPr>
        <p:spPr>
          <a:xfrm>
            <a:off x="822960" y="205740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7" name="icon19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5990"/>
            <a:ext cx="297180" cy="297180"/>
          </a:xfrm>
          <a:prstGeom prst="rect">
            <a:avLst/>
          </a:prstGeom>
        </p:spPr>
      </p:pic>
      <p:sp>
        <p:nvSpPr>
          <p:cNvPr id="8" name="text196"/>
          <p:cNvSpPr txBox="1"/>
          <p:nvPr/>
        </p:nvSpPr>
        <p:spPr>
          <a:xfrm>
            <a:off x="82296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Driver requests</a:t>
            </a:r>
            <a:endParaRPr lang="en-US" sz="1600" dirty="0"/>
          </a:p>
        </p:txBody>
      </p:sp>
      <p:sp>
        <p:nvSpPr>
          <p:cNvPr id="9" name="text197"/>
          <p:cNvSpPr txBox="1"/>
          <p:nvPr/>
        </p:nvSpPr>
        <p:spPr>
          <a:xfrm>
            <a:off x="822960" y="31546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Picks a charger and slot, taps Request &amp; pay</a:t>
            </a:r>
            <a:endParaRPr lang="en-US" sz="1400" dirty="0"/>
          </a:p>
        </p:txBody>
      </p:sp>
      <p:sp>
        <p:nvSpPr>
          <p:cNvPr id="10" name="arrow198"/>
          <p:cNvSpPr/>
          <p:nvPr/>
        </p:nvSpPr>
        <p:spPr>
          <a:xfrm>
            <a:off x="3163824" y="2788920"/>
            <a:ext cx="128016" cy="27432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card199"/>
          <p:cNvSpPr/>
          <p:nvPr/>
        </p:nvSpPr>
        <p:spPr>
          <a:xfrm>
            <a:off x="3383280" y="187452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badge200"/>
          <p:cNvSpPr/>
          <p:nvPr/>
        </p:nvSpPr>
        <p:spPr>
          <a:xfrm>
            <a:off x="3657600" y="20574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con20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190" y="2205990"/>
            <a:ext cx="297180" cy="297180"/>
          </a:xfrm>
          <a:prstGeom prst="rect">
            <a:avLst/>
          </a:prstGeom>
        </p:spPr>
      </p:pic>
      <p:sp>
        <p:nvSpPr>
          <p:cNvPr id="14" name="text202"/>
          <p:cNvSpPr txBox="1"/>
          <p:nvPr/>
        </p:nvSpPr>
        <p:spPr>
          <a:xfrm>
            <a:off x="365760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EVkal creates order</a:t>
            </a:r>
            <a:endParaRPr lang="en-US" sz="1600" dirty="0"/>
          </a:p>
        </p:txBody>
      </p:sp>
      <p:sp>
        <p:nvSpPr>
          <p:cNvPr id="15" name="text203"/>
          <p:cNvSpPr txBox="1"/>
          <p:nvPr/>
        </p:nvSpPr>
        <p:spPr>
          <a:xfrm>
            <a:off x="3657600" y="31546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Backend creates a Razorpay order for the amount</a:t>
            </a:r>
            <a:endParaRPr lang="en-US" sz="1400" dirty="0"/>
          </a:p>
        </p:txBody>
      </p:sp>
      <p:sp>
        <p:nvSpPr>
          <p:cNvPr id="16" name="arrow204"/>
          <p:cNvSpPr/>
          <p:nvPr/>
        </p:nvSpPr>
        <p:spPr>
          <a:xfrm>
            <a:off x="5998464" y="2788920"/>
            <a:ext cx="128016" cy="27432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card205"/>
          <p:cNvSpPr/>
          <p:nvPr/>
        </p:nvSpPr>
        <p:spPr>
          <a:xfrm>
            <a:off x="6217920" y="187452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8" name="badge206"/>
          <p:cNvSpPr/>
          <p:nvPr/>
        </p:nvSpPr>
        <p:spPr>
          <a:xfrm>
            <a:off x="6492240" y="205740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icon20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830" y="2205990"/>
            <a:ext cx="297180" cy="297180"/>
          </a:xfrm>
          <a:prstGeom prst="rect">
            <a:avLst/>
          </a:prstGeom>
        </p:spPr>
      </p:pic>
      <p:sp>
        <p:nvSpPr>
          <p:cNvPr id="20" name="text208"/>
          <p:cNvSpPr txBox="1"/>
          <p:nvPr/>
        </p:nvSpPr>
        <p:spPr>
          <a:xfrm>
            <a:off x="649224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Razorpay Checkout</a:t>
            </a:r>
            <a:endParaRPr lang="en-US" sz="1600" dirty="0"/>
          </a:p>
        </p:txBody>
      </p:sp>
      <p:sp>
        <p:nvSpPr>
          <p:cNvPr id="21" name="text209"/>
          <p:cNvSpPr txBox="1"/>
          <p:nvPr/>
        </p:nvSpPr>
        <p:spPr>
          <a:xfrm>
            <a:off x="6492240" y="31546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UPI, cards or netbanking, in test mode for the demo</a:t>
            </a:r>
            <a:endParaRPr lang="en-US" sz="1400" dirty="0"/>
          </a:p>
        </p:txBody>
      </p:sp>
      <p:sp>
        <p:nvSpPr>
          <p:cNvPr id="22" name="arrow210"/>
          <p:cNvSpPr/>
          <p:nvPr/>
        </p:nvSpPr>
        <p:spPr>
          <a:xfrm>
            <a:off x="8833104" y="2788920"/>
            <a:ext cx="128016" cy="27432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card211"/>
          <p:cNvSpPr/>
          <p:nvPr/>
        </p:nvSpPr>
        <p:spPr>
          <a:xfrm>
            <a:off x="9052560" y="187452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4" name="badge212"/>
          <p:cNvSpPr/>
          <p:nvPr/>
        </p:nvSpPr>
        <p:spPr>
          <a:xfrm>
            <a:off x="9326880" y="205740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con21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470" y="2205990"/>
            <a:ext cx="297180" cy="297180"/>
          </a:xfrm>
          <a:prstGeom prst="rect">
            <a:avLst/>
          </a:prstGeom>
        </p:spPr>
      </p:pic>
      <p:sp>
        <p:nvSpPr>
          <p:cNvPr id="26" name="text214"/>
          <p:cNvSpPr txBox="1"/>
          <p:nvPr/>
        </p:nvSpPr>
        <p:spPr>
          <a:xfrm>
            <a:off x="932688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Verify and settle</a:t>
            </a:r>
            <a:endParaRPr lang="en-US" sz="1600" dirty="0"/>
          </a:p>
        </p:txBody>
      </p:sp>
      <p:sp>
        <p:nvSpPr>
          <p:cNvPr id="27" name="text215"/>
          <p:cNvSpPr txBox="1"/>
          <p:nvPr/>
        </p:nvSpPr>
        <p:spPr>
          <a:xfrm>
            <a:off x="9326880" y="31546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Signature verified, host paid, EVkal fee retained</a:t>
            </a:r>
            <a:endParaRPr lang="en-US" sz="1400" dirty="0"/>
          </a:p>
        </p:txBody>
      </p:sp>
      <p:sp>
        <p:nvSpPr>
          <p:cNvPr id="28" name="card216"/>
          <p:cNvSpPr/>
          <p:nvPr/>
        </p:nvSpPr>
        <p:spPr>
          <a:xfrm>
            <a:off x="548640" y="4114800"/>
            <a:ext cx="3621024" cy="13716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9" name="text217"/>
          <p:cNvSpPr txBox="1"/>
          <p:nvPr/>
        </p:nvSpPr>
        <p:spPr>
          <a:xfrm>
            <a:off x="777240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2"/>
                </a:solidFill>
              </a:rPr>
              <a:t>PAYMENT METHODS</a:t>
            </a:r>
            <a:endParaRPr lang="en-US" sz="1400" dirty="0"/>
          </a:p>
        </p:txBody>
      </p:sp>
      <p:sp>
        <p:nvSpPr>
          <p:cNvPr id="30" name="text218"/>
          <p:cNvSpPr txBox="1"/>
          <p:nvPr/>
        </p:nvSpPr>
        <p:spPr>
          <a:xfrm>
            <a:off x="777240" y="45720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UPI, cards, netbanking and wallets, as enabled on the account.</a:t>
            </a:r>
            <a:endParaRPr lang="en-US" sz="1400" dirty="0"/>
          </a:p>
        </p:txBody>
      </p:sp>
      <p:sp>
        <p:nvSpPr>
          <p:cNvPr id="31" name="card219"/>
          <p:cNvSpPr/>
          <p:nvPr/>
        </p:nvSpPr>
        <p:spPr>
          <a:xfrm>
            <a:off x="4270248" y="4114800"/>
            <a:ext cx="3621024" cy="13716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2" name="text220"/>
          <p:cNvSpPr txBox="1"/>
          <p:nvPr/>
        </p:nvSpPr>
        <p:spPr>
          <a:xfrm>
            <a:off x="4498848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1"/>
                </a:solidFill>
              </a:rPr>
              <a:t>SPLIT PAYOUTS</a:t>
            </a:r>
            <a:endParaRPr lang="en-US" sz="1400" dirty="0"/>
          </a:p>
        </p:txBody>
      </p:sp>
      <p:sp>
        <p:nvSpPr>
          <p:cNvPr id="33" name="text221"/>
          <p:cNvSpPr txBox="1"/>
          <p:nvPr/>
        </p:nvSpPr>
        <p:spPr>
          <a:xfrm>
            <a:off x="4498848" y="45720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Razorpay Route can split each payment between host and platform.</a:t>
            </a:r>
            <a:endParaRPr lang="en-US" sz="1400" dirty="0"/>
          </a:p>
        </p:txBody>
      </p:sp>
      <p:sp>
        <p:nvSpPr>
          <p:cNvPr id="34" name="card222"/>
          <p:cNvSpPr/>
          <p:nvPr/>
        </p:nvSpPr>
        <p:spPr>
          <a:xfrm>
            <a:off x="7991856" y="4114800"/>
            <a:ext cx="3621024" cy="13716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5" name="text223"/>
          <p:cNvSpPr txBox="1"/>
          <p:nvPr/>
        </p:nvSpPr>
        <p:spPr>
          <a:xfrm>
            <a:off x="8220456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3"/>
                </a:solidFill>
              </a:rPr>
              <a:t>TRUST &amp; SAFETY</a:t>
            </a:r>
            <a:endParaRPr lang="en-US" sz="1400" dirty="0"/>
          </a:p>
        </p:txBody>
      </p:sp>
      <p:sp>
        <p:nvSpPr>
          <p:cNvPr id="36" name="text224"/>
          <p:cNvSpPr txBox="1"/>
          <p:nvPr/>
        </p:nvSpPr>
        <p:spPr>
          <a:xfrm>
            <a:off x="8220456" y="45720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Server-side orders, signature checks, API keys in environment variables.</a:t>
            </a:r>
            <a:endParaRPr lang="en-US" sz="1400" dirty="0"/>
          </a:p>
        </p:txBody>
      </p:sp>
      <p:sp>
        <p:nvSpPr>
          <p:cNvPr id="37" name="text225"/>
          <p:cNvSpPr txBox="1"/>
          <p:nvPr/>
        </p:nvSpPr>
        <p:spPr>
          <a:xfrm>
            <a:off x="548640" y="57150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Demo runs in Razorpay test mode, so no real money moves. Live payments need account activation and KYC.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8580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 modular MERN-based web application</a:t>
            </a:r>
            <a:endParaRPr lang="en-US" sz="3400" dirty="0"/>
          </a:p>
        </p:txBody>
      </p:sp>
      <p:sp>
        <p:nvSpPr>
          <p:cNvPr id="3" name="text226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08  •  TECHNICAL ARCHITECTURE</a:t>
            </a:r>
            <a:endParaRPr lang="en-US" sz="1200" dirty="0"/>
          </a:p>
        </p:txBody>
      </p:sp>
      <p:sp>
        <p:nvSpPr>
          <p:cNvPr id="4" name="text227"/>
          <p:cNvSpPr txBox="1"/>
          <p:nvPr/>
        </p:nvSpPr>
        <p:spPr>
          <a:xfrm>
            <a:off x="54864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Intended architecture: mark components as proposed until verified in the implementation.</a:t>
            </a:r>
            <a:endParaRPr lang="en-US" sz="1600" dirty="0"/>
          </a:p>
        </p:txBody>
      </p:sp>
      <p:sp>
        <p:nvSpPr>
          <p:cNvPr id="5" name="card228"/>
          <p:cNvSpPr/>
          <p:nvPr/>
        </p:nvSpPr>
        <p:spPr>
          <a:xfrm>
            <a:off x="548640" y="1874520"/>
            <a:ext cx="11064240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229"/>
          <p:cNvSpPr txBox="1"/>
          <p:nvPr/>
        </p:nvSpPr>
        <p:spPr>
          <a:xfrm>
            <a:off x="822960" y="18745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4"/>
                </a:solidFill>
              </a:rPr>
              <a:t>FRONTEND</a:t>
            </a:r>
            <a:endParaRPr lang="en-US" sz="1400" dirty="0"/>
          </a:p>
        </p:txBody>
      </p:sp>
      <p:sp>
        <p:nvSpPr>
          <p:cNvPr id="7" name="text230"/>
          <p:cNvSpPr txBox="1"/>
          <p:nvPr/>
        </p:nvSpPr>
        <p:spPr>
          <a:xfrm>
            <a:off x="2834640" y="18745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React dashboard, charging forms, charts, charger search, listing and checkout screens</a:t>
            </a:r>
            <a:endParaRPr lang="en-US" sz="1600" dirty="0"/>
          </a:p>
        </p:txBody>
      </p:sp>
      <p:sp>
        <p:nvSpPr>
          <p:cNvPr id="8" name="card231"/>
          <p:cNvSpPr/>
          <p:nvPr/>
        </p:nvSpPr>
        <p:spPr>
          <a:xfrm>
            <a:off x="548640" y="2834640"/>
            <a:ext cx="11064240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232"/>
          <p:cNvSpPr txBox="1"/>
          <p:nvPr/>
        </p:nvSpPr>
        <p:spPr>
          <a:xfrm>
            <a:off x="822960" y="2834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BACKEND</a:t>
            </a:r>
            <a:endParaRPr lang="en-US" sz="1400" dirty="0"/>
          </a:p>
        </p:txBody>
      </p:sp>
      <p:sp>
        <p:nvSpPr>
          <p:cNvPr id="10" name="text233"/>
          <p:cNvSpPr txBox="1"/>
          <p:nvPr/>
        </p:nvSpPr>
        <p:spPr>
          <a:xfrm>
            <a:off x="2834640" y="283464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Node.js + Express.js REST APIs, validation, Razorpay order and verification endpoints</a:t>
            </a:r>
            <a:endParaRPr lang="en-US" sz="1600" dirty="0"/>
          </a:p>
        </p:txBody>
      </p:sp>
      <p:sp>
        <p:nvSpPr>
          <p:cNvPr id="11" name="card234"/>
          <p:cNvSpPr/>
          <p:nvPr/>
        </p:nvSpPr>
        <p:spPr>
          <a:xfrm>
            <a:off x="548640" y="388620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badge235"/>
          <p:cNvSpPr/>
          <p:nvPr/>
        </p:nvSpPr>
        <p:spPr>
          <a:xfrm>
            <a:off x="777240" y="402336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con23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114800"/>
            <a:ext cx="182880" cy="182880"/>
          </a:xfrm>
          <a:prstGeom prst="rect">
            <a:avLst/>
          </a:prstGeom>
        </p:spPr>
      </p:pic>
      <p:sp>
        <p:nvSpPr>
          <p:cNvPr id="14" name="text237"/>
          <p:cNvSpPr txBox="1"/>
          <p:nvPr/>
        </p:nvSpPr>
        <p:spPr>
          <a:xfrm>
            <a:off x="128016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CORE LOGIC</a:t>
            </a:r>
            <a:endParaRPr lang="en-US" sz="1400" dirty="0"/>
          </a:p>
        </p:txBody>
      </p:sp>
      <p:sp>
        <p:nvSpPr>
          <p:cNvPr id="15" name="text238"/>
          <p:cNvSpPr txBox="1"/>
          <p:nvPr/>
        </p:nvSpPr>
        <p:spPr>
          <a:xfrm>
            <a:off x="777240" y="4526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Demand classification, load simulation, feasible scheduler, illustrative pricing</a:t>
            </a:r>
            <a:endParaRPr lang="en-US" sz="1400" dirty="0"/>
          </a:p>
        </p:txBody>
      </p:sp>
      <p:sp>
        <p:nvSpPr>
          <p:cNvPr id="16" name="card239"/>
          <p:cNvSpPr/>
          <p:nvPr/>
        </p:nvSpPr>
        <p:spPr>
          <a:xfrm>
            <a:off x="4297680" y="388620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badge240"/>
          <p:cNvSpPr/>
          <p:nvPr/>
        </p:nvSpPr>
        <p:spPr>
          <a:xfrm>
            <a:off x="4526280" y="402336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icon24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4114800"/>
            <a:ext cx="182880" cy="182880"/>
          </a:xfrm>
          <a:prstGeom prst="rect">
            <a:avLst/>
          </a:prstGeom>
        </p:spPr>
      </p:pic>
      <p:sp>
        <p:nvSpPr>
          <p:cNvPr id="19" name="text242"/>
          <p:cNvSpPr txBox="1"/>
          <p:nvPr/>
        </p:nvSpPr>
        <p:spPr>
          <a:xfrm>
            <a:off x="502920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DATA LAYER  •  MONGODB</a:t>
            </a:r>
            <a:endParaRPr lang="en-US" sz="1400" dirty="0"/>
          </a:p>
        </p:txBody>
      </p:sp>
      <p:sp>
        <p:nvSpPr>
          <p:cNvPr id="20" name="text243"/>
          <p:cNvSpPr txBox="1"/>
          <p:nvPr/>
        </p:nvSpPr>
        <p:spPr>
          <a:xfrm>
            <a:off x="4526280" y="4526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Users, charger listings, availability, requests, payments, scenarios</a:t>
            </a:r>
            <a:endParaRPr lang="en-US" sz="1400" dirty="0"/>
          </a:p>
        </p:txBody>
      </p:sp>
      <p:sp>
        <p:nvSpPr>
          <p:cNvPr id="21" name="card244"/>
          <p:cNvSpPr/>
          <p:nvPr/>
        </p:nvSpPr>
        <p:spPr>
          <a:xfrm>
            <a:off x="8046720" y="388620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2" name="badge245"/>
          <p:cNvSpPr/>
          <p:nvPr/>
        </p:nvSpPr>
        <p:spPr>
          <a:xfrm>
            <a:off x="8275320" y="402336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24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4114800"/>
            <a:ext cx="182880" cy="182880"/>
          </a:xfrm>
          <a:prstGeom prst="rect">
            <a:avLst/>
          </a:prstGeom>
        </p:spPr>
      </p:pic>
      <p:sp>
        <p:nvSpPr>
          <p:cNvPr id="24" name="text247"/>
          <p:cNvSpPr txBox="1"/>
          <p:nvPr/>
        </p:nvSpPr>
        <p:spPr>
          <a:xfrm>
            <a:off x="877824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PAYMENTS  •  RAZORPAY</a:t>
            </a:r>
            <a:endParaRPr lang="en-US" sz="1400" dirty="0"/>
          </a:p>
        </p:txBody>
      </p:sp>
      <p:sp>
        <p:nvSpPr>
          <p:cNvPr id="25" name="text248"/>
          <p:cNvSpPr txBox="1"/>
          <p:nvPr/>
        </p:nvSpPr>
        <p:spPr>
          <a:xfrm>
            <a:off x="8275320" y="4526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Checkout and Route in test mode; webhooks confirm payment status</a:t>
            </a:r>
            <a:endParaRPr lang="en-US" sz="1400" dirty="0"/>
          </a:p>
        </p:txBody>
      </p:sp>
      <p:sp>
        <p:nvSpPr>
          <p:cNvPr id="26" name="text249"/>
          <p:cNvSpPr txBox="1"/>
          <p:nvPr/>
        </p:nvSpPr>
        <p:spPr>
          <a:xfrm>
            <a:off x="548640" y="56235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bg2"/>
                </a:solidFill>
              </a:rPr>
              <a:t>External data: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verified public demand source where available; otherwise a labeled fallback or simulation.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Security: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secrets in environment variables; protect private locations and contacts; never claim unbuilt authentication.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8580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 simulated Uttar Pradesh locality</a:t>
            </a:r>
            <a:endParaRPr lang="en-US" sz="3400" dirty="0"/>
          </a:p>
        </p:txBody>
      </p:sp>
      <p:sp>
        <p:nvSpPr>
          <p:cNvPr id="3" name="text25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09  •  LOCALITY DEMONSTRATION</a:t>
            </a:r>
            <a:endParaRPr lang="en-US" sz="1200" dirty="0"/>
          </a:p>
        </p:txBody>
      </p:sp>
      <p:sp>
        <p:nvSpPr>
          <p:cNvPr id="4" name="text251"/>
          <p:cNvSpPr txBox="1"/>
          <p:nvPr/>
        </p:nvSpPr>
        <p:spPr>
          <a:xfrm>
            <a:off x="54864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 repeatable scenario, not a claim about any real transformer’s live load.</a:t>
            </a:r>
            <a:endParaRPr lang="en-US" sz="1600" dirty="0"/>
          </a:p>
        </p:txBody>
      </p:sp>
      <p:sp>
        <p:nvSpPr>
          <p:cNvPr id="5" name="card252"/>
          <p:cNvSpPr/>
          <p:nvPr/>
        </p:nvSpPr>
        <p:spPr>
          <a:xfrm>
            <a:off x="548640" y="1874520"/>
            <a:ext cx="6766560" cy="3474720"/>
          </a:xfrm>
          <a:prstGeom prst="roundRect">
            <a:avLst>
              <a:gd name="adj" fmla="val 3158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253"/>
          <p:cNvSpPr txBox="1"/>
          <p:nvPr/>
        </p:nvSpPr>
        <p:spPr>
          <a:xfrm>
            <a:off x="77724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2"/>
                </a:solidFill>
              </a:rPr>
              <a:t>LOCALITY MODEL  •  CONCEPTUAL</a:t>
            </a:r>
            <a:endParaRPr lang="en-US" sz="1400" dirty="0"/>
          </a:p>
        </p:txBody>
      </p:sp>
      <p:sp>
        <p:nvSpPr>
          <p:cNvPr id="7" name="road254"/>
          <p:cNvSpPr/>
          <p:nvPr/>
        </p:nvSpPr>
        <p:spPr>
          <a:xfrm>
            <a:off x="822960" y="2926080"/>
            <a:ext cx="62179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8" name="road255"/>
          <p:cNvSpPr/>
          <p:nvPr/>
        </p:nvSpPr>
        <p:spPr>
          <a:xfrm>
            <a:off x="822960" y="3657600"/>
            <a:ext cx="62179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9" name="road256"/>
          <p:cNvSpPr/>
          <p:nvPr/>
        </p:nvSpPr>
        <p:spPr>
          <a:xfrm>
            <a:off x="822960" y="4389120"/>
            <a:ext cx="62179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0" name="road257"/>
          <p:cNvSpPr/>
          <p:nvPr/>
        </p:nvSpPr>
        <p:spPr>
          <a:xfrm>
            <a:off x="1737360" y="2514600"/>
            <a:ext cx="0" cy="19659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1" name="road258"/>
          <p:cNvSpPr/>
          <p:nvPr/>
        </p:nvSpPr>
        <p:spPr>
          <a:xfrm>
            <a:off x="3108960" y="2514600"/>
            <a:ext cx="0" cy="19659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2" name="road259"/>
          <p:cNvSpPr/>
          <p:nvPr/>
        </p:nvSpPr>
        <p:spPr>
          <a:xfrm>
            <a:off x="4480560" y="2514600"/>
            <a:ext cx="0" cy="19659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3" name="road260"/>
          <p:cNvSpPr/>
          <p:nvPr/>
        </p:nvSpPr>
        <p:spPr>
          <a:xfrm>
            <a:off x="5852160" y="2514600"/>
            <a:ext cx="0" cy="19659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4" name="Transformer"/>
          <p:cNvSpPr/>
          <p:nvPr/>
        </p:nvSpPr>
        <p:spPr>
          <a:xfrm>
            <a:off x="3785616" y="3419856"/>
            <a:ext cx="475488" cy="475488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15" name="node261"/>
          <p:cNvSpPr/>
          <p:nvPr/>
        </p:nvSpPr>
        <p:spPr>
          <a:xfrm>
            <a:off x="1600200" y="2788920"/>
            <a:ext cx="274320" cy="27432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16" name="node262"/>
          <p:cNvSpPr/>
          <p:nvPr/>
        </p:nvSpPr>
        <p:spPr>
          <a:xfrm>
            <a:off x="2971800" y="4251960"/>
            <a:ext cx="274320" cy="27432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17" name="node263"/>
          <p:cNvSpPr/>
          <p:nvPr/>
        </p:nvSpPr>
        <p:spPr>
          <a:xfrm>
            <a:off x="5715000" y="2788920"/>
            <a:ext cx="274320" cy="27432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18" name="node264"/>
          <p:cNvSpPr/>
          <p:nvPr/>
        </p:nvSpPr>
        <p:spPr>
          <a:xfrm>
            <a:off x="4343400" y="425196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19" name="node265"/>
          <p:cNvSpPr/>
          <p:nvPr/>
        </p:nvSpPr>
        <p:spPr>
          <a:xfrm>
            <a:off x="1600200" y="425196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20" name="key266"/>
          <p:cNvSpPr/>
          <p:nvPr/>
        </p:nvSpPr>
        <p:spPr>
          <a:xfrm>
            <a:off x="822960" y="4828032"/>
            <a:ext cx="182880" cy="1828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267"/>
          <p:cNvSpPr txBox="1"/>
          <p:nvPr/>
        </p:nvSpPr>
        <p:spPr>
          <a:xfrm>
            <a:off x="1097280" y="47548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Transformer</a:t>
            </a:r>
            <a:endParaRPr lang="en-US" sz="1400" dirty="0"/>
          </a:p>
        </p:txBody>
      </p:sp>
      <p:sp>
        <p:nvSpPr>
          <p:cNvPr id="22" name="key268"/>
          <p:cNvSpPr/>
          <p:nvPr/>
        </p:nvSpPr>
        <p:spPr>
          <a:xfrm>
            <a:off x="2834640" y="4828032"/>
            <a:ext cx="182880" cy="1828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269"/>
          <p:cNvSpPr txBox="1"/>
          <p:nvPr/>
        </p:nvSpPr>
        <p:spPr>
          <a:xfrm>
            <a:off x="3108960" y="47548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EV driver</a:t>
            </a:r>
            <a:endParaRPr lang="en-US" sz="1400" dirty="0"/>
          </a:p>
        </p:txBody>
      </p:sp>
      <p:sp>
        <p:nvSpPr>
          <p:cNvPr id="24" name="key270"/>
          <p:cNvSpPr/>
          <p:nvPr/>
        </p:nvSpPr>
        <p:spPr>
          <a:xfrm>
            <a:off x="4846320" y="4828032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271"/>
          <p:cNvSpPr txBox="1"/>
          <p:nvPr/>
        </p:nvSpPr>
        <p:spPr>
          <a:xfrm>
            <a:off x="5120640" y="47548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Charger</a:t>
            </a:r>
            <a:endParaRPr lang="en-US" sz="1400" dirty="0"/>
          </a:p>
        </p:txBody>
      </p:sp>
      <p:sp>
        <p:nvSpPr>
          <p:cNvPr id="26" name="card272"/>
          <p:cNvSpPr/>
          <p:nvPr/>
        </p:nvSpPr>
        <p:spPr>
          <a:xfrm>
            <a:off x="7543800" y="1874520"/>
            <a:ext cx="406908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7" name="text273"/>
          <p:cNvSpPr txBox="1"/>
          <p:nvPr/>
        </p:nvSpPr>
        <p:spPr>
          <a:xfrm>
            <a:off x="777240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4"/>
                </a:solidFill>
              </a:rPr>
              <a:t>EV DRIVERS</a:t>
            </a:r>
            <a:endParaRPr lang="en-US" sz="1400" dirty="0"/>
          </a:p>
        </p:txBody>
      </p:sp>
      <p:sp>
        <p:nvSpPr>
          <p:cNvPr id="28" name="text274"/>
          <p:cNvSpPr txBox="1"/>
          <p:nvPr/>
        </p:nvSpPr>
        <p:spPr>
          <a:xfrm>
            <a:off x="7772400" y="23317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More informed charging times and nearby options.</a:t>
            </a:r>
            <a:endParaRPr lang="en-US" sz="1400" dirty="0"/>
          </a:p>
        </p:txBody>
      </p:sp>
      <p:sp>
        <p:nvSpPr>
          <p:cNvPr id="29" name="card275"/>
          <p:cNvSpPr/>
          <p:nvPr/>
        </p:nvSpPr>
        <p:spPr>
          <a:xfrm>
            <a:off x="7543800" y="3063240"/>
            <a:ext cx="406908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0" name="text276"/>
          <p:cNvSpPr txBox="1"/>
          <p:nvPr/>
        </p:nvSpPr>
        <p:spPr>
          <a:xfrm>
            <a:off x="777240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1"/>
                </a:solidFill>
              </a:rPr>
              <a:t>CHARGER OWNERS</a:t>
            </a:r>
            <a:endParaRPr lang="en-US" sz="1400" dirty="0"/>
          </a:p>
        </p:txBody>
      </p:sp>
      <p:sp>
        <p:nvSpPr>
          <p:cNvPr id="31" name="text277"/>
          <p:cNvSpPr txBox="1"/>
          <p:nvPr/>
        </p:nvSpPr>
        <p:spPr>
          <a:xfrm>
            <a:off x="7772400" y="352044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way to share opted-in spare charging capacity.</a:t>
            </a:r>
            <a:endParaRPr lang="en-US" sz="1400" dirty="0"/>
          </a:p>
        </p:txBody>
      </p:sp>
      <p:sp>
        <p:nvSpPr>
          <p:cNvPr id="32" name="card278"/>
          <p:cNvSpPr/>
          <p:nvPr/>
        </p:nvSpPr>
        <p:spPr>
          <a:xfrm>
            <a:off x="7543800" y="4251960"/>
            <a:ext cx="406908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3" name="text279"/>
          <p:cNvSpPr txBox="1"/>
          <p:nvPr/>
        </p:nvSpPr>
        <p:spPr>
          <a:xfrm>
            <a:off x="777240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3"/>
                </a:solidFill>
              </a:rPr>
              <a:t>GRID OPERATORS</a:t>
            </a:r>
            <a:endParaRPr lang="en-US" sz="1400" dirty="0"/>
          </a:p>
        </p:txBody>
      </p:sp>
      <p:sp>
        <p:nvSpPr>
          <p:cNvPr id="34" name="text280"/>
          <p:cNvSpPr txBox="1"/>
          <p:nvPr/>
        </p:nvSpPr>
        <p:spPr>
          <a:xfrm>
            <a:off x="7772400" y="470916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Visibility into simulated peak load and utilization.</a:t>
            </a:r>
            <a:endParaRPr lang="en-US" sz="1400" dirty="0"/>
          </a:p>
        </p:txBody>
      </p:sp>
      <p:sp>
        <p:nvSpPr>
          <p:cNvPr id="35" name="text281"/>
          <p:cNvSpPr txBox="1"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Data honesty: transformer values and demo listings are simulated unless independently verified.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8580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Who benefits, and how it sustains</a:t>
            </a:r>
            <a:endParaRPr lang="en-US" sz="3400" dirty="0"/>
          </a:p>
        </p:txBody>
      </p:sp>
      <p:sp>
        <p:nvSpPr>
          <p:cNvPr id="3" name="text28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10  •  BENEFICIARIES + SUSTAINABILITY</a:t>
            </a:r>
            <a:endParaRPr lang="en-US" sz="1200" dirty="0"/>
          </a:p>
        </p:txBody>
      </p:sp>
      <p:sp>
        <p:nvSpPr>
          <p:cNvPr id="4" name="text283"/>
          <p:cNvSpPr txBox="1"/>
          <p:nvPr/>
        </p:nvSpPr>
        <p:spPr>
          <a:xfrm>
            <a:off x="54864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Value for every side of the charging ecosystem, with a model that can pay for itself.</a:t>
            </a:r>
            <a:endParaRPr lang="en-US" sz="1600" dirty="0"/>
          </a:p>
        </p:txBody>
      </p:sp>
      <p:sp>
        <p:nvSpPr>
          <p:cNvPr id="5" name="card284"/>
          <p:cNvSpPr/>
          <p:nvPr/>
        </p:nvSpPr>
        <p:spPr>
          <a:xfrm>
            <a:off x="548640" y="1874520"/>
            <a:ext cx="265176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badge285"/>
          <p:cNvSpPr/>
          <p:nvPr/>
        </p:nvSpPr>
        <p:spPr>
          <a:xfrm>
            <a:off x="777240" y="205740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7" name="icon28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94560"/>
            <a:ext cx="274320" cy="274320"/>
          </a:xfrm>
          <a:prstGeom prst="rect">
            <a:avLst/>
          </a:prstGeom>
        </p:spPr>
      </p:pic>
      <p:sp>
        <p:nvSpPr>
          <p:cNvPr id="8" name="text287"/>
          <p:cNvSpPr txBox="1"/>
          <p:nvPr/>
        </p:nvSpPr>
        <p:spPr>
          <a:xfrm>
            <a:off x="77724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EV drivers</a:t>
            </a:r>
            <a:endParaRPr lang="en-US" sz="1600" dirty="0"/>
          </a:p>
        </p:txBody>
      </p:sp>
      <p:sp>
        <p:nvSpPr>
          <p:cNvPr id="9" name="text288"/>
          <p:cNvSpPr txBox="1"/>
          <p:nvPr/>
        </p:nvSpPr>
        <p:spPr>
          <a:xfrm>
            <a:off x="777240" y="312724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Lower charging cost, less uncertainty, more nearby options.</a:t>
            </a:r>
            <a:endParaRPr lang="en-US" sz="1400" dirty="0"/>
          </a:p>
        </p:txBody>
      </p:sp>
      <p:sp>
        <p:nvSpPr>
          <p:cNvPr id="10" name="card289"/>
          <p:cNvSpPr/>
          <p:nvPr/>
        </p:nvSpPr>
        <p:spPr>
          <a:xfrm>
            <a:off x="3353105" y="1874520"/>
            <a:ext cx="265176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badge290"/>
          <p:cNvSpPr/>
          <p:nvPr/>
        </p:nvSpPr>
        <p:spPr>
          <a:xfrm>
            <a:off x="3581705" y="2057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29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8865" y="2194560"/>
            <a:ext cx="274320" cy="274320"/>
          </a:xfrm>
          <a:prstGeom prst="rect">
            <a:avLst/>
          </a:prstGeom>
        </p:spPr>
      </p:pic>
      <p:sp>
        <p:nvSpPr>
          <p:cNvPr id="13" name="text292"/>
          <p:cNvSpPr txBox="1"/>
          <p:nvPr/>
        </p:nvSpPr>
        <p:spPr>
          <a:xfrm>
            <a:off x="3581705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Charger owners</a:t>
            </a:r>
            <a:endParaRPr lang="en-US" sz="1600" dirty="0"/>
          </a:p>
        </p:txBody>
      </p:sp>
      <p:sp>
        <p:nvSpPr>
          <p:cNvPr id="14" name="text293"/>
          <p:cNvSpPr txBox="1"/>
          <p:nvPr/>
        </p:nvSpPr>
        <p:spPr>
          <a:xfrm>
            <a:off x="3581705" y="312724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Earn from idle private chargers on their own terms.</a:t>
            </a:r>
            <a:endParaRPr lang="en-US" sz="1400" dirty="0"/>
          </a:p>
        </p:txBody>
      </p:sp>
      <p:sp>
        <p:nvSpPr>
          <p:cNvPr id="15" name="card294"/>
          <p:cNvSpPr/>
          <p:nvPr/>
        </p:nvSpPr>
        <p:spPr>
          <a:xfrm>
            <a:off x="6157570" y="1874520"/>
            <a:ext cx="265176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badge295"/>
          <p:cNvSpPr/>
          <p:nvPr/>
        </p:nvSpPr>
        <p:spPr>
          <a:xfrm>
            <a:off x="6386170" y="20574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con29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330" y="2194560"/>
            <a:ext cx="274320" cy="274320"/>
          </a:xfrm>
          <a:prstGeom prst="rect">
            <a:avLst/>
          </a:prstGeom>
        </p:spPr>
      </p:pic>
      <p:sp>
        <p:nvSpPr>
          <p:cNvPr id="18" name="text297"/>
          <p:cNvSpPr txBox="1"/>
          <p:nvPr/>
        </p:nvSpPr>
        <p:spPr>
          <a:xfrm>
            <a:off x="638617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Grid operators</a:t>
            </a:r>
            <a:endParaRPr lang="en-US" sz="1600" dirty="0"/>
          </a:p>
        </p:txBody>
      </p:sp>
      <p:sp>
        <p:nvSpPr>
          <p:cNvPr id="19" name="text298"/>
          <p:cNvSpPr txBox="1"/>
          <p:nvPr/>
        </p:nvSpPr>
        <p:spPr>
          <a:xfrm>
            <a:off x="6386170" y="312724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Flatter evening peaks and visibility into local load.</a:t>
            </a:r>
            <a:endParaRPr lang="en-US" sz="1400" dirty="0"/>
          </a:p>
        </p:txBody>
      </p:sp>
      <p:sp>
        <p:nvSpPr>
          <p:cNvPr id="20" name="card299"/>
          <p:cNvSpPr/>
          <p:nvPr/>
        </p:nvSpPr>
        <p:spPr>
          <a:xfrm>
            <a:off x="8962034" y="1874520"/>
            <a:ext cx="265176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1" name="badge300"/>
          <p:cNvSpPr/>
          <p:nvPr/>
        </p:nvSpPr>
        <p:spPr>
          <a:xfrm>
            <a:off x="9190634" y="20574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30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7794" y="2194560"/>
            <a:ext cx="274320" cy="274320"/>
          </a:xfrm>
          <a:prstGeom prst="rect">
            <a:avLst/>
          </a:prstGeom>
        </p:spPr>
      </p:pic>
      <p:sp>
        <p:nvSpPr>
          <p:cNvPr id="23" name="text302"/>
          <p:cNvSpPr txBox="1"/>
          <p:nvPr/>
        </p:nvSpPr>
        <p:spPr>
          <a:xfrm>
            <a:off x="9190634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Community</a:t>
            </a:r>
            <a:endParaRPr lang="en-US" sz="1600" dirty="0"/>
          </a:p>
        </p:txBody>
      </p:sp>
      <p:sp>
        <p:nvSpPr>
          <p:cNvPr id="24" name="text303"/>
          <p:cNvSpPr txBox="1"/>
          <p:nvPr/>
        </p:nvSpPr>
        <p:spPr>
          <a:xfrm>
            <a:off x="9190634" y="312724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Cleaner, EV-ready neighborhoods without heavy new build-out.</a:t>
            </a:r>
            <a:endParaRPr lang="en-US" sz="1400" dirty="0"/>
          </a:p>
        </p:txBody>
      </p:sp>
      <p:sp>
        <p:nvSpPr>
          <p:cNvPr id="25" name="text304"/>
          <p:cNvSpPr txBox="1"/>
          <p:nvPr/>
        </p:nvSpPr>
        <p:spPr>
          <a:xfrm>
            <a:off x="54864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1"/>
                </a:solidFill>
              </a:rPr>
              <a:t>HOW EVKAL SUSTAINS ITSELF  •  PROPOSED MODEL</a:t>
            </a:r>
            <a:endParaRPr lang="en-US" sz="1400" dirty="0"/>
          </a:p>
        </p:txBody>
      </p:sp>
      <p:sp>
        <p:nvSpPr>
          <p:cNvPr id="26" name="card305"/>
          <p:cNvSpPr/>
          <p:nvPr/>
        </p:nvSpPr>
        <p:spPr>
          <a:xfrm>
            <a:off x="548640" y="4526280"/>
            <a:ext cx="3621024" cy="1417320"/>
          </a:xfrm>
          <a:prstGeom prst="roundRect">
            <a:avLst>
              <a:gd name="adj" fmla="val 7742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7" name="badge306"/>
          <p:cNvSpPr/>
          <p:nvPr/>
        </p:nvSpPr>
        <p:spPr>
          <a:xfrm>
            <a:off x="777240" y="46634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icon30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754880"/>
            <a:ext cx="182880" cy="182880"/>
          </a:xfrm>
          <a:prstGeom prst="rect">
            <a:avLst/>
          </a:prstGeom>
        </p:spPr>
      </p:pic>
      <p:sp>
        <p:nvSpPr>
          <p:cNvPr id="29" name="text308"/>
          <p:cNvSpPr txBox="1"/>
          <p:nvPr/>
        </p:nvSpPr>
        <p:spPr>
          <a:xfrm>
            <a:off x="128016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Platform fee</a:t>
            </a:r>
            <a:endParaRPr lang="en-US" sz="1600" dirty="0"/>
          </a:p>
        </p:txBody>
      </p:sp>
      <p:sp>
        <p:nvSpPr>
          <p:cNvPr id="30" name="text309"/>
          <p:cNvSpPr txBox="1"/>
          <p:nvPr/>
        </p:nvSpPr>
        <p:spPr>
          <a:xfrm>
            <a:off x="777240" y="5120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small commission on each paid shared session, collected through Razorpay Route.</a:t>
            </a:r>
            <a:endParaRPr lang="en-US" sz="1400" dirty="0"/>
          </a:p>
        </p:txBody>
      </p:sp>
      <p:sp>
        <p:nvSpPr>
          <p:cNvPr id="31" name="card310"/>
          <p:cNvSpPr/>
          <p:nvPr/>
        </p:nvSpPr>
        <p:spPr>
          <a:xfrm>
            <a:off x="4270248" y="4526280"/>
            <a:ext cx="3621024" cy="1417320"/>
          </a:xfrm>
          <a:prstGeom prst="roundRect">
            <a:avLst>
              <a:gd name="adj" fmla="val 7742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2" name="badge311"/>
          <p:cNvSpPr/>
          <p:nvPr/>
        </p:nvSpPr>
        <p:spPr>
          <a:xfrm>
            <a:off x="4498848" y="46634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3" name="icon31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0288" y="4754880"/>
            <a:ext cx="182880" cy="182880"/>
          </a:xfrm>
          <a:prstGeom prst="rect">
            <a:avLst/>
          </a:prstGeom>
        </p:spPr>
      </p:pic>
      <p:sp>
        <p:nvSpPr>
          <p:cNvPr id="34" name="text313"/>
          <p:cNvSpPr txBox="1"/>
          <p:nvPr/>
        </p:nvSpPr>
        <p:spPr>
          <a:xfrm>
            <a:off x="5001768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Utility and society dashboards</a:t>
            </a:r>
            <a:endParaRPr lang="en-US" sz="1600" dirty="0"/>
          </a:p>
        </p:txBody>
      </p:sp>
      <p:sp>
        <p:nvSpPr>
          <p:cNvPr id="35" name="text314"/>
          <p:cNvSpPr txBox="1"/>
          <p:nvPr/>
        </p:nvSpPr>
        <p:spPr>
          <a:xfrm>
            <a:off x="4498848" y="5120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Pilot or subscription for DISCOMs and housing societies that want load visibility.</a:t>
            </a:r>
            <a:endParaRPr lang="en-US" sz="1400" dirty="0"/>
          </a:p>
        </p:txBody>
      </p:sp>
      <p:sp>
        <p:nvSpPr>
          <p:cNvPr id="36" name="card315"/>
          <p:cNvSpPr/>
          <p:nvPr/>
        </p:nvSpPr>
        <p:spPr>
          <a:xfrm>
            <a:off x="7991856" y="4526280"/>
            <a:ext cx="3621024" cy="1417320"/>
          </a:xfrm>
          <a:prstGeom prst="roundRect">
            <a:avLst>
              <a:gd name="adj" fmla="val 7742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7" name="badge316"/>
          <p:cNvSpPr/>
          <p:nvPr/>
        </p:nvSpPr>
        <p:spPr>
          <a:xfrm>
            <a:off x="8220456" y="46634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8" name="icon31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1896" y="4754880"/>
            <a:ext cx="182880" cy="182880"/>
          </a:xfrm>
          <a:prstGeom prst="rect">
            <a:avLst/>
          </a:prstGeom>
        </p:spPr>
      </p:pic>
      <p:sp>
        <p:nvSpPr>
          <p:cNvPr id="39" name="text318"/>
          <p:cNvSpPr txBox="1"/>
          <p:nvPr/>
        </p:nvSpPr>
        <p:spPr>
          <a:xfrm>
            <a:off x="8723376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Peak-shaving incentives</a:t>
            </a:r>
            <a:endParaRPr lang="en-US" sz="1600" dirty="0"/>
          </a:p>
        </p:txBody>
      </p:sp>
      <p:sp>
        <p:nvSpPr>
          <p:cNvPr id="40" name="text319"/>
          <p:cNvSpPr txBox="1"/>
          <p:nvPr/>
        </p:nvSpPr>
        <p:spPr>
          <a:xfrm>
            <a:off x="8220456" y="5120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Savings from avoided peaks fund time-of-day incentives for drivers.</a:t>
            </a:r>
            <a:endParaRPr lang="en-US" sz="1400" dirty="0"/>
          </a:p>
        </p:txBody>
      </p:sp>
      <p:sp>
        <p:nvSpPr>
          <p:cNvPr id="41" name="text320"/>
          <p:cNvSpPr txBox="1"/>
          <p:nvPr/>
        </p:nvSpPr>
        <p:spPr>
          <a:xfrm>
            <a:off x="548640" y="60167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Revenue streams are proposals to validate with pilots; no financial projections are claimed.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8580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Build the core. Extend with confidence.</a:t>
            </a:r>
            <a:endParaRPr lang="en-US" sz="3400" dirty="0"/>
          </a:p>
        </p:txBody>
      </p:sp>
      <p:sp>
        <p:nvSpPr>
          <p:cNvPr id="3" name="text321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11  •  DELIVERY ROADMAP</a:t>
            </a:r>
            <a:endParaRPr lang="en-US" sz="1200" dirty="0"/>
          </a:p>
        </p:txBody>
      </p:sp>
      <p:sp>
        <p:nvSpPr>
          <p:cNvPr id="4" name="text322"/>
          <p:cNvSpPr txBox="1"/>
          <p:nvPr/>
        </p:nvSpPr>
        <p:spPr>
          <a:xfrm>
            <a:off x="54864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 staged plan keeps the hackathon demo focused, testable, and credible.</a:t>
            </a:r>
            <a:endParaRPr lang="en-US" sz="1600" dirty="0"/>
          </a:p>
        </p:txBody>
      </p:sp>
      <p:sp>
        <p:nvSpPr>
          <p:cNvPr id="5" name="card323"/>
          <p:cNvSpPr/>
          <p:nvPr/>
        </p:nvSpPr>
        <p:spPr>
          <a:xfrm>
            <a:off x="548640" y="1874520"/>
            <a:ext cx="3383280" cy="2834640"/>
          </a:xfrm>
          <a:prstGeom prst="roundRect">
            <a:avLst>
              <a:gd name="adj" fmla="val 3871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324"/>
          <p:cNvSpPr txBox="1"/>
          <p:nvPr/>
        </p:nvSpPr>
        <p:spPr>
          <a:xfrm>
            <a:off x="82296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PHASE 1</a:t>
            </a:r>
            <a:endParaRPr lang="en-US" sz="1200" dirty="0"/>
          </a:p>
        </p:txBody>
      </p:sp>
      <p:sp>
        <p:nvSpPr>
          <p:cNvPr id="7" name="text325"/>
          <p:cNvSpPr txBox="1"/>
          <p:nvPr/>
        </p:nvSpPr>
        <p:spPr>
          <a:xfrm>
            <a:off x="822960" y="2286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Core MVP</a:t>
            </a:r>
            <a:endParaRPr lang="en-US" sz="2000" dirty="0"/>
          </a:p>
        </p:txBody>
      </p:sp>
      <p:sp>
        <p:nvSpPr>
          <p:cNvPr id="8" name="text326"/>
          <p:cNvSpPr txBox="1"/>
          <p:nvPr/>
        </p:nvSpPr>
        <p:spPr>
          <a:xfrm>
            <a:off x="822960" y="288036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Demand simulation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Demand classes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Feasible scheduler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Pricing + impact dashboard</a:t>
            </a:r>
            <a:endParaRPr lang="en-US" sz="1400" dirty="0"/>
          </a:p>
        </p:txBody>
      </p:sp>
      <p:sp>
        <p:nvSpPr>
          <p:cNvPr id="9" name="arrow327"/>
          <p:cNvSpPr/>
          <p:nvPr/>
        </p:nvSpPr>
        <p:spPr>
          <a:xfrm>
            <a:off x="4023360" y="3154680"/>
            <a:ext cx="182880" cy="329184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ard328"/>
          <p:cNvSpPr/>
          <p:nvPr/>
        </p:nvSpPr>
        <p:spPr>
          <a:xfrm>
            <a:off x="4389120" y="1874520"/>
            <a:ext cx="3383280" cy="2834640"/>
          </a:xfrm>
          <a:prstGeom prst="roundRect">
            <a:avLst>
              <a:gd name="adj" fmla="val 3871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329"/>
          <p:cNvSpPr txBox="1"/>
          <p:nvPr/>
        </p:nvSpPr>
        <p:spPr>
          <a:xfrm>
            <a:off x="466344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PHASE 2</a:t>
            </a:r>
            <a:endParaRPr lang="en-US" sz="1200" dirty="0"/>
          </a:p>
        </p:txBody>
      </p:sp>
      <p:sp>
        <p:nvSpPr>
          <p:cNvPr id="12" name="text330"/>
          <p:cNvSpPr txBox="1"/>
          <p:nvPr/>
        </p:nvSpPr>
        <p:spPr>
          <a:xfrm>
            <a:off x="4663440" y="2286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Sharing prototype</a:t>
            </a:r>
            <a:endParaRPr lang="en-US" sz="2000" dirty="0"/>
          </a:p>
        </p:txBody>
      </p:sp>
      <p:sp>
        <p:nvSpPr>
          <p:cNvPr id="13" name="text331"/>
          <p:cNvSpPr txBox="1"/>
          <p:nvPr/>
        </p:nvSpPr>
        <p:spPr>
          <a:xfrm>
            <a:off x="4663440" y="288036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Nearby search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Host listings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Compatibility filters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Razorpay test payments</a:t>
            </a:r>
            <a:endParaRPr lang="en-US" sz="1400" dirty="0"/>
          </a:p>
        </p:txBody>
      </p:sp>
      <p:sp>
        <p:nvSpPr>
          <p:cNvPr id="14" name="arrow332"/>
          <p:cNvSpPr/>
          <p:nvPr/>
        </p:nvSpPr>
        <p:spPr>
          <a:xfrm>
            <a:off x="7863840" y="3154680"/>
            <a:ext cx="182880" cy="329184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card333"/>
          <p:cNvSpPr/>
          <p:nvPr/>
        </p:nvSpPr>
        <p:spPr>
          <a:xfrm>
            <a:off x="8229600" y="1874520"/>
            <a:ext cx="3383280" cy="2834640"/>
          </a:xfrm>
          <a:prstGeom prst="roundRect">
            <a:avLst>
              <a:gd name="adj" fmla="val 3871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text334"/>
          <p:cNvSpPr txBox="1"/>
          <p:nvPr/>
        </p:nvSpPr>
        <p:spPr>
          <a:xfrm>
            <a:off x="850392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FUTURE</a:t>
            </a:r>
            <a:endParaRPr lang="en-US" sz="1200" dirty="0"/>
          </a:p>
        </p:txBody>
      </p:sp>
      <p:sp>
        <p:nvSpPr>
          <p:cNvPr id="17" name="text335"/>
          <p:cNvSpPr txBox="1"/>
          <p:nvPr/>
        </p:nvSpPr>
        <p:spPr>
          <a:xfrm>
            <a:off x="8503920" y="2286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Production readiness</a:t>
            </a:r>
            <a:endParaRPr lang="en-US" sz="2000" dirty="0"/>
          </a:p>
        </p:txBody>
      </p:sp>
      <p:sp>
        <p:nvSpPr>
          <p:cNvPr id="18" name="text336"/>
          <p:cNvSpPr txBox="1"/>
          <p:nvPr/>
        </p:nvSpPr>
        <p:spPr>
          <a:xfrm>
            <a:off x="8503920" y="288036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Verified hosts (KYC)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Live payments + payouts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Live charger integration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Privacy / liability review</a:t>
            </a:r>
            <a:endParaRPr lang="en-US" sz="1400" dirty="0"/>
          </a:p>
        </p:txBody>
      </p:sp>
      <p:sp>
        <p:nvSpPr>
          <p:cNvPr id="19" name="card337"/>
          <p:cNvSpPr/>
          <p:nvPr/>
        </p:nvSpPr>
        <p:spPr>
          <a:xfrm>
            <a:off x="548640" y="4937760"/>
            <a:ext cx="11064240" cy="123444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Logo mark" descr="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285232"/>
            <a:ext cx="1280160" cy="576072"/>
          </a:xfrm>
          <a:prstGeom prst="rect">
            <a:avLst/>
          </a:prstGeom>
        </p:spPr>
      </p:pic>
      <p:sp>
        <p:nvSpPr>
          <p:cNvPr id="21" name="text338"/>
          <p:cNvSpPr txBox="1"/>
          <p:nvPr/>
        </p:nvSpPr>
        <p:spPr>
          <a:xfrm>
            <a:off x="2377440" y="502920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EVKAL’S PROMISE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Smarter, more accessible, more grid-aware EV charging, without overstating what the prototype can verify.</a:t>
            </a:r>
            <a:endParaRPr lang="en-US" sz="1400" dirty="0"/>
          </a:p>
        </p:txBody>
      </p:sp>
      <p:sp>
        <p:nvSpPr>
          <p:cNvPr id="22" name="text339"/>
          <p:cNvSpPr txBox="1"/>
          <p:nvPr/>
        </p:nvSpPr>
        <p:spPr>
          <a:xfrm>
            <a:off x="8138160" y="502920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Thank you  •  Questions?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Vkal">
  <a:themeElements>
    <a:clrScheme name="EVkal">
      <a:dk1>
        <a:srgbClr val="0A1220"/>
      </a:dk1>
      <a:lt1>
        <a:srgbClr val="F2F7FA"/>
      </a:lt1>
      <a:dk2>
        <a:srgbClr val="172A3E"/>
      </a:dk2>
      <a:lt2>
        <a:srgbClr val="A6B8C7"/>
      </a:lt2>
      <a:accent1>
        <a:srgbClr val="58E6A4"/>
      </a:accent1>
      <a:accent2>
        <a:srgbClr val="33C9BE"/>
      </a:accent2>
      <a:accent3>
        <a:srgbClr val="FFB55C"/>
      </a:accent3>
      <a:accent4>
        <a:srgbClr val="52BEF5"/>
      </a:accent4>
      <a:accent5>
        <a:srgbClr val="2B3F53"/>
      </a:accent5>
      <a:accent6>
        <a:srgbClr val="FF7A7A"/>
      </a:accent6>
      <a:hlink>
        <a:srgbClr val="52BEF5"/>
      </a:hlink>
      <a:folHlink>
        <a:srgbClr val="A6B8C7"/>
      </a:folHlink>
    </a:clrScheme>
    <a:fontScheme name="EVk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EVkal – Smart EV Charging Ecosystem</dc:title>
  <dc:subject>PptxGenJS Presentation</dc:subject>
  <dc:creator>PptxGenJS</dc:creator>
  <cp:lastModifiedBy>PptxGenJS</cp:lastModifiedBy>
  <cp:revision>1</cp:revision>
  <dcterms:created xsi:type="dcterms:W3CDTF">2026-10-23T12:02:28Z</dcterms:created>
  <dcterms:modified xsi:type="dcterms:W3CDTF">2026-10-23T12:02:28Z</dcterms:modified>
</cp:coreProperties>
</file>